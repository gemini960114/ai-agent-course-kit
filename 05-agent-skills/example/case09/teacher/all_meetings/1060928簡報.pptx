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</p:sldMasterIdLst>
  <p:notesMasterIdLst>
    <p:notesMasterId r:id="rId46"/>
  </p:notesMasterIdLst>
  <p:handoutMasterIdLst>
    <p:handoutMasterId r:id="rId47"/>
  </p:handoutMasterIdLst>
  <p:sldIdLst>
    <p:sldId id="272" r:id="rId3"/>
    <p:sldId id="701" r:id="rId4"/>
    <p:sldId id="690" r:id="rId5"/>
    <p:sldId id="691" r:id="rId6"/>
    <p:sldId id="692" r:id="rId7"/>
    <p:sldId id="693" r:id="rId8"/>
    <p:sldId id="694" r:id="rId9"/>
    <p:sldId id="698" r:id="rId10"/>
    <p:sldId id="695" r:id="rId11"/>
    <p:sldId id="699" r:id="rId12"/>
    <p:sldId id="700" r:id="rId13"/>
    <p:sldId id="573" r:id="rId14"/>
    <p:sldId id="708" r:id="rId15"/>
    <p:sldId id="578" r:id="rId16"/>
    <p:sldId id="650" r:id="rId17"/>
    <p:sldId id="683" r:id="rId18"/>
    <p:sldId id="704" r:id="rId19"/>
    <p:sldId id="709" r:id="rId20"/>
    <p:sldId id="681" r:id="rId21"/>
    <p:sldId id="712" r:id="rId22"/>
    <p:sldId id="680" r:id="rId23"/>
    <p:sldId id="714" r:id="rId24"/>
    <p:sldId id="713" r:id="rId25"/>
    <p:sldId id="715" r:id="rId26"/>
    <p:sldId id="630" r:id="rId27"/>
    <p:sldId id="682" r:id="rId28"/>
    <p:sldId id="668" r:id="rId29"/>
    <p:sldId id="631" r:id="rId30"/>
    <p:sldId id="666" r:id="rId31"/>
    <p:sldId id="617" r:id="rId32"/>
    <p:sldId id="655" r:id="rId33"/>
    <p:sldId id="717" r:id="rId34"/>
    <p:sldId id="710" r:id="rId35"/>
    <p:sldId id="688" r:id="rId36"/>
    <p:sldId id="633" r:id="rId37"/>
    <p:sldId id="638" r:id="rId38"/>
    <p:sldId id="718" r:id="rId39"/>
    <p:sldId id="706" r:id="rId40"/>
    <p:sldId id="685" r:id="rId41"/>
    <p:sldId id="716" r:id="rId42"/>
    <p:sldId id="711" r:id="rId43"/>
    <p:sldId id="686" r:id="rId44"/>
    <p:sldId id="456" r:id="rId45"/>
  </p:sldIdLst>
  <p:sldSz cx="9144000" cy="6858000" type="screen4x3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B6E1881-2521-4D85-AAFC-36274C1406DB}">
          <p14:sldIdLst>
            <p14:sldId id="272"/>
            <p14:sldId id="701"/>
            <p14:sldId id="690"/>
            <p14:sldId id="691"/>
            <p14:sldId id="692"/>
            <p14:sldId id="693"/>
            <p14:sldId id="694"/>
            <p14:sldId id="698"/>
            <p14:sldId id="695"/>
            <p14:sldId id="699"/>
            <p14:sldId id="700"/>
            <p14:sldId id="573"/>
            <p14:sldId id="708"/>
            <p14:sldId id="578"/>
            <p14:sldId id="650"/>
            <p14:sldId id="683"/>
            <p14:sldId id="704"/>
            <p14:sldId id="709"/>
          </p14:sldIdLst>
        </p14:section>
        <p14:section name="未命名的章節" id="{F358B8F0-CD3B-4963-9F91-9858DF251422}">
          <p14:sldIdLst>
            <p14:sldId id="681"/>
            <p14:sldId id="712"/>
            <p14:sldId id="680"/>
            <p14:sldId id="714"/>
            <p14:sldId id="713"/>
            <p14:sldId id="715"/>
            <p14:sldId id="630"/>
            <p14:sldId id="682"/>
            <p14:sldId id="668"/>
            <p14:sldId id="631"/>
            <p14:sldId id="666"/>
            <p14:sldId id="617"/>
            <p14:sldId id="655"/>
            <p14:sldId id="717"/>
            <p14:sldId id="710"/>
            <p14:sldId id="688"/>
            <p14:sldId id="633"/>
            <p14:sldId id="638"/>
            <p14:sldId id="718"/>
            <p14:sldId id="706"/>
            <p14:sldId id="685"/>
            <p14:sldId id="716"/>
            <p14:sldId id="711"/>
            <p14:sldId id="686"/>
            <p14:sldId id="4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CCFF99"/>
    <a:srgbClr val="A828A8"/>
    <a:srgbClr val="8D06D8"/>
    <a:srgbClr val="FFCC00"/>
    <a:srgbClr val="FFCCFF"/>
    <a:srgbClr val="CCFFFF"/>
    <a:srgbClr val="6699FF"/>
    <a:srgbClr val="002060"/>
    <a:srgbClr val="7C8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727" autoAdjust="0"/>
  </p:normalViewPr>
  <p:slideViewPr>
    <p:cSldViewPr>
      <p:cViewPr varScale="1">
        <p:scale>
          <a:sx n="99" d="100"/>
          <a:sy n="99" d="100"/>
        </p:scale>
        <p:origin x="190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pP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總開放項數</a:t>
            </a:r>
            <a:r>
              <a:rPr lang="en-US" altLang="zh-TW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(412</a:t>
            </a: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c:rich>
      </c:tx>
      <c:layout>
        <c:manualLayout>
          <c:xMode val="edge"/>
          <c:yMode val="edge"/>
          <c:x val="0.33663430218667934"/>
          <c:y val="4.15180979119412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'[議程用附表(表5至表7).xlsx]簡報_已開放圖'!$A$1:$A$15</c:f>
              <c:strCache>
                <c:ptCount val="15"/>
                <c:pt idx="0">
                  <c:v>檔案局</c:v>
                </c:pt>
                <c:pt idx="1">
                  <c:v>綜規處</c:v>
                </c:pt>
                <c:pt idx="2">
                  <c:v>經濟處</c:v>
                </c:pt>
                <c:pt idx="3">
                  <c:v>社發處</c:v>
                </c:pt>
                <c:pt idx="4">
                  <c:v>產業處</c:v>
                </c:pt>
                <c:pt idx="5">
                  <c:v>人力處</c:v>
                </c:pt>
                <c:pt idx="6">
                  <c:v>國土處</c:v>
                </c:pt>
                <c:pt idx="7">
                  <c:v>管考處</c:v>
                </c:pt>
                <c:pt idx="8">
                  <c:v>資管處</c:v>
                </c:pt>
                <c:pt idx="9">
                  <c:v>法協中心</c:v>
                </c:pt>
                <c:pt idx="10">
                  <c:v>秘書室</c:v>
                </c:pt>
                <c:pt idx="11">
                  <c:v>人事室</c:v>
                </c:pt>
                <c:pt idx="12">
                  <c:v>政風室</c:v>
                </c:pt>
                <c:pt idx="13">
                  <c:v>主計室</c:v>
                </c:pt>
                <c:pt idx="14">
                  <c:v>國發基金</c:v>
                </c:pt>
              </c:strCache>
            </c:strRef>
          </c:cat>
          <c:val>
            <c:numRef>
              <c:f>'[議程用附表(表5至表7).xlsx]簡報_已開放圖'!$B$1:$B$15</c:f>
              <c:numCache>
                <c:formatCode>General</c:formatCode>
                <c:ptCount val="15"/>
                <c:pt idx="0">
                  <c:v>73</c:v>
                </c:pt>
                <c:pt idx="1">
                  <c:v>23</c:v>
                </c:pt>
                <c:pt idx="2">
                  <c:v>27</c:v>
                </c:pt>
                <c:pt idx="3">
                  <c:v>35</c:v>
                </c:pt>
                <c:pt idx="4">
                  <c:v>29</c:v>
                </c:pt>
                <c:pt idx="5">
                  <c:v>39</c:v>
                </c:pt>
                <c:pt idx="6">
                  <c:v>51</c:v>
                </c:pt>
                <c:pt idx="7">
                  <c:v>17</c:v>
                </c:pt>
                <c:pt idx="8">
                  <c:v>37</c:v>
                </c:pt>
                <c:pt idx="9">
                  <c:v>16</c:v>
                </c:pt>
                <c:pt idx="10">
                  <c:v>7</c:v>
                </c:pt>
                <c:pt idx="11">
                  <c:v>7</c:v>
                </c:pt>
                <c:pt idx="12">
                  <c:v>4</c:v>
                </c:pt>
                <c:pt idx="13">
                  <c:v>14</c:v>
                </c:pt>
                <c:pt idx="14">
                  <c:v>33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90519416"/>
        <c:axId val="490519808"/>
      </c:barChart>
      <c:catAx>
        <c:axId val="490519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eaVert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490519808"/>
        <c:crosses val="autoZero"/>
        <c:auto val="1"/>
        <c:lblAlgn val="ctr"/>
        <c:lblOffset val="100"/>
        <c:noMultiLvlLbl val="0"/>
      </c:catAx>
      <c:valAx>
        <c:axId val="49051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90519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4BB13A-AFAB-4C21-A39E-22937F90696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BA3D9592-AB07-4790-868C-1E2B48BFD51F}">
      <dgm:prSet custT="1"/>
      <dgm:spPr>
        <a:solidFill>
          <a:srgbClr val="CCCCFF"/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壹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DE91FCD-A84B-4945-826C-EF5AAD7F192C}" type="parTrans" cxnId="{BC1DB9A7-9BCA-4640-A2FA-1948E14EBE2A}">
      <dgm:prSet/>
      <dgm:spPr/>
      <dgm:t>
        <a:bodyPr/>
        <a:lstStyle/>
        <a:p>
          <a:endParaRPr lang="zh-TW" altLang="en-US"/>
        </a:p>
      </dgm:t>
    </dgm:pt>
    <dgm:pt modelId="{C8DD654A-24F7-40D4-AD15-CAF635F06A98}" type="sibTrans" cxnId="{BC1DB9A7-9BCA-4640-A2FA-1948E14EBE2A}">
      <dgm:prSet/>
      <dgm:spPr/>
      <dgm:t>
        <a:bodyPr/>
        <a:lstStyle/>
        <a:p>
          <a:endParaRPr lang="zh-TW" altLang="en-US"/>
        </a:p>
      </dgm:t>
    </dgm:pt>
    <dgm:pt modelId="{81AE8A07-21E1-4871-A52A-CE4A165218FB}">
      <dgm:prSet custT="1"/>
      <dgm:spPr>
        <a:solidFill>
          <a:srgbClr val="CCCCFF"/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參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7F39E68-A490-46FF-AA2E-5029FE12EA23}" type="parTrans" cxnId="{C599940A-688D-4654-8B1F-00E58BA395D9}">
      <dgm:prSet/>
      <dgm:spPr/>
      <dgm:t>
        <a:bodyPr/>
        <a:lstStyle/>
        <a:p>
          <a:endParaRPr lang="zh-TW" altLang="en-US"/>
        </a:p>
      </dgm:t>
    </dgm:pt>
    <dgm:pt modelId="{CDA4A549-3D97-4D52-955C-BC88A096B640}" type="sibTrans" cxnId="{C599940A-688D-4654-8B1F-00E58BA395D9}">
      <dgm:prSet/>
      <dgm:spPr/>
      <dgm:t>
        <a:bodyPr/>
        <a:lstStyle/>
        <a:p>
          <a:endParaRPr lang="zh-TW" altLang="en-US"/>
        </a:p>
      </dgm:t>
    </dgm:pt>
    <dgm:pt modelId="{6EEF47C8-D473-4CAC-931B-55357F05C1E5}">
      <dgm:prSet/>
      <dgm:spPr>
        <a:solidFill>
          <a:schemeClr val="accent3">
            <a:lumMod val="95000"/>
          </a:schemeClr>
        </a:solidFill>
        <a:ln w="3175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資料開放</a:t>
          </a:r>
          <a:r>
            <a:rPr kumimoji="1" lang="zh-TW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諮詢小組運作方式</a:t>
          </a:r>
          <a:endParaRPr kumimoji="1" lang="zh-TW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155D2B1-D415-4FC8-B454-816762289D7E}" type="parTrans" cxnId="{FD920B17-D1C9-4376-AEDA-1989E16776C1}">
      <dgm:prSet/>
      <dgm:spPr/>
      <dgm:t>
        <a:bodyPr/>
        <a:lstStyle/>
        <a:p>
          <a:endParaRPr lang="zh-TW" altLang="en-US"/>
        </a:p>
      </dgm:t>
    </dgm:pt>
    <dgm:pt modelId="{BBFDFCE6-D0D8-4031-92EB-65FC8735C214}" type="sibTrans" cxnId="{FD920B17-D1C9-4376-AEDA-1989E16776C1}">
      <dgm:prSet/>
      <dgm:spPr/>
      <dgm:t>
        <a:bodyPr/>
        <a:lstStyle/>
        <a:p>
          <a:endParaRPr lang="zh-TW" altLang="en-US"/>
        </a:p>
      </dgm:t>
    </dgm:pt>
    <dgm:pt modelId="{745197C7-D5A3-49F0-9096-F235C8F0D408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貮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36750C3-6E06-4271-A6F0-F6A119A08A6F}" type="parTrans" cxnId="{B8DF746D-5724-45C0-B205-34CA3B51F6DC}">
      <dgm:prSet/>
      <dgm:spPr/>
      <dgm:t>
        <a:bodyPr/>
        <a:lstStyle/>
        <a:p>
          <a:endParaRPr lang="zh-TW" altLang="en-US"/>
        </a:p>
      </dgm:t>
    </dgm:pt>
    <dgm:pt modelId="{0AC06162-ACA7-48D3-B89B-E57145C365AD}" type="sibTrans" cxnId="{B8DF746D-5724-45C0-B205-34CA3B51F6DC}">
      <dgm:prSet/>
      <dgm:spPr/>
      <dgm:t>
        <a:bodyPr/>
        <a:lstStyle/>
        <a:p>
          <a:endParaRPr lang="zh-TW" altLang="en-US"/>
        </a:p>
      </dgm:t>
    </dgm:pt>
    <dgm:pt modelId="{C4B719BE-A829-4A25-B19D-4CAA00AFCBBD}">
      <dgm:prSet custT="1"/>
      <dgm:spPr>
        <a:solidFill>
          <a:schemeClr val="accent3">
            <a:lumMod val="95000"/>
          </a:schemeClr>
        </a:solidFill>
        <a:ln w="3175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本會資料開放推動現況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2CDFD42-CE3E-425B-93E7-5A4E417D569D}" type="parTrans" cxnId="{ACAB6CA5-62FC-43C8-977A-A56183603FA5}">
      <dgm:prSet/>
      <dgm:spPr/>
      <dgm:t>
        <a:bodyPr/>
        <a:lstStyle/>
        <a:p>
          <a:endParaRPr lang="zh-TW" altLang="en-US"/>
        </a:p>
      </dgm:t>
    </dgm:pt>
    <dgm:pt modelId="{D3B56BE6-63BD-41B3-95A4-5690B9036F7D}" type="sibTrans" cxnId="{ACAB6CA5-62FC-43C8-977A-A56183603FA5}">
      <dgm:prSet/>
      <dgm:spPr/>
      <dgm:t>
        <a:bodyPr/>
        <a:lstStyle/>
        <a:p>
          <a:endParaRPr lang="zh-TW" altLang="en-US"/>
        </a:p>
      </dgm:t>
    </dgm:pt>
    <dgm:pt modelId="{D9BCBD18-A060-4ABB-8D7E-3A6F2881B4BD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伍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A34DC3F3-34D4-4C7F-B5B1-43798E4DE469}" type="parTrans" cxnId="{92DB023A-DCCA-4B40-B944-7EF28E4C0FE4}">
      <dgm:prSet/>
      <dgm:spPr/>
      <dgm:t>
        <a:bodyPr/>
        <a:lstStyle/>
        <a:p>
          <a:endParaRPr lang="zh-TW" altLang="en-US"/>
        </a:p>
      </dgm:t>
    </dgm:pt>
    <dgm:pt modelId="{9774BB61-8A75-4A43-8A4E-74902D114EB4}" type="sibTrans" cxnId="{92DB023A-DCCA-4B40-B944-7EF28E4C0FE4}">
      <dgm:prSet/>
      <dgm:spPr/>
      <dgm:t>
        <a:bodyPr/>
        <a:lstStyle/>
        <a:p>
          <a:endParaRPr lang="zh-TW" altLang="en-US"/>
        </a:p>
      </dgm:t>
    </dgm:pt>
    <dgm:pt modelId="{D82C20D1-D692-4173-8AD8-9A01558ED05F}">
      <dgm:prSet custT="1"/>
      <dgm:spPr>
        <a:solidFill>
          <a:schemeClr val="accent3">
            <a:lumMod val="95000"/>
          </a:schemeClr>
        </a:solidFill>
        <a:ln w="3175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討論事項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E17130E-E2EF-4FE7-84AB-1316D86FF333}" type="parTrans" cxnId="{4C52F411-582A-4007-8949-DA67F0E657BD}">
      <dgm:prSet/>
      <dgm:spPr/>
      <dgm:t>
        <a:bodyPr/>
        <a:lstStyle/>
        <a:p>
          <a:endParaRPr lang="zh-TW" altLang="en-US"/>
        </a:p>
      </dgm:t>
    </dgm:pt>
    <dgm:pt modelId="{C8620559-C285-4048-94DC-BD001632171B}" type="sibTrans" cxnId="{4C52F411-582A-4007-8949-DA67F0E657BD}">
      <dgm:prSet/>
      <dgm:spPr/>
      <dgm:t>
        <a:bodyPr/>
        <a:lstStyle/>
        <a:p>
          <a:endParaRPr lang="zh-TW" altLang="en-US"/>
        </a:p>
      </dgm:t>
    </dgm:pt>
    <dgm:pt modelId="{0F18A7FA-1505-48F0-A78A-8FE186A17014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歷次會議決議事項辦理情形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87E807E-0554-48FF-A351-70D5312D4CCF}" type="parTrans" cxnId="{4A212F60-0017-4A77-B0B9-B8FAEAC5D2A3}">
      <dgm:prSet/>
      <dgm:spPr/>
      <dgm:t>
        <a:bodyPr/>
        <a:lstStyle/>
        <a:p>
          <a:endParaRPr lang="zh-TW" altLang="en-US"/>
        </a:p>
      </dgm:t>
    </dgm:pt>
    <dgm:pt modelId="{59A838D1-F595-458C-A6CD-B9C7D9FECE05}" type="sibTrans" cxnId="{4A212F60-0017-4A77-B0B9-B8FAEAC5D2A3}">
      <dgm:prSet/>
      <dgm:spPr/>
      <dgm:t>
        <a:bodyPr/>
        <a:lstStyle/>
        <a:p>
          <a:endParaRPr lang="zh-TW" altLang="en-US"/>
        </a:p>
      </dgm:t>
    </dgm:pt>
    <dgm:pt modelId="{F7F7B818-78F7-484B-83AE-7D9893B1945B}">
      <dgm:prSet custT="1"/>
      <dgm:spPr>
        <a:solidFill>
          <a:schemeClr val="accent6">
            <a:lumMod val="20000"/>
            <a:lumOff val="80000"/>
          </a:schemeClr>
        </a:solidFill>
        <a:ln w="19050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肆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0CC6480-D382-4A1E-9850-DE57D6ED9D17}" type="parTrans" cxnId="{63BA6B65-2BB8-4104-94AF-E0F1C90AA170}">
      <dgm:prSet/>
      <dgm:spPr/>
      <dgm:t>
        <a:bodyPr/>
        <a:lstStyle/>
        <a:p>
          <a:endParaRPr lang="zh-TW" altLang="en-US"/>
        </a:p>
      </dgm:t>
    </dgm:pt>
    <dgm:pt modelId="{B704C251-B44C-45E7-BDBD-38A2A876B272}" type="sibTrans" cxnId="{63BA6B65-2BB8-4104-94AF-E0F1C90AA170}">
      <dgm:prSet/>
      <dgm:spPr/>
      <dgm:t>
        <a:bodyPr/>
        <a:lstStyle/>
        <a:p>
          <a:endParaRPr lang="zh-TW" altLang="en-US"/>
        </a:p>
      </dgm:t>
    </dgm:pt>
    <dgm:pt modelId="{9B5C6660-7989-4590-86D1-169A31BDD9C6}">
      <dgm:prSet custT="1"/>
      <dgm:spPr>
        <a:solidFill>
          <a:schemeClr val="accent3">
            <a:lumMod val="95000"/>
          </a:schemeClr>
        </a:solidFill>
        <a:ln w="3175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kumimoji="1" lang="zh-TW" altLang="en-US" b="1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報告事項</a:t>
          </a:r>
          <a:endParaRPr kumimoji="1" lang="zh-TW" altLang="en-US" b="1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96D4477-2AF3-4F6F-A902-4A1E41D3E1A9}" type="parTrans" cxnId="{1040C713-CDE8-4B89-8E70-90ED1A8725C4}">
      <dgm:prSet/>
      <dgm:spPr/>
      <dgm:t>
        <a:bodyPr/>
        <a:lstStyle/>
        <a:p>
          <a:endParaRPr lang="zh-TW" altLang="en-US"/>
        </a:p>
      </dgm:t>
    </dgm:pt>
    <dgm:pt modelId="{5AE213DD-574D-4A43-8516-D7D7C279E03B}" type="sibTrans" cxnId="{1040C713-CDE8-4B89-8E70-90ED1A8725C4}">
      <dgm:prSet/>
      <dgm:spPr/>
      <dgm:t>
        <a:bodyPr/>
        <a:lstStyle/>
        <a:p>
          <a:endParaRPr lang="zh-TW" altLang="en-US"/>
        </a:p>
      </dgm:t>
    </dgm:pt>
    <dgm:pt modelId="{07DB2F0E-EA51-4F35-87A9-9BDA59029A80}" type="pres">
      <dgm:prSet presAssocID="{914BB13A-AFAB-4C21-A39E-22937F90696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11E4B249-6BC2-45CC-9272-F3ACA1CB04CD}" type="pres">
      <dgm:prSet presAssocID="{BA3D9592-AB07-4790-868C-1E2B48BFD51F}" presName="composite" presStyleCnt="0"/>
      <dgm:spPr/>
    </dgm:pt>
    <dgm:pt modelId="{F3CFFA24-1EE2-490E-9AC0-3A46E1F193D8}" type="pres">
      <dgm:prSet presAssocID="{BA3D9592-AB07-4790-868C-1E2B48BFD51F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B18CCBE-F741-4D17-8665-2458421106DC}" type="pres">
      <dgm:prSet presAssocID="{BA3D9592-AB07-4790-868C-1E2B48BFD51F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831D50A-F493-4E4E-84E3-89F39418532C}" type="pres">
      <dgm:prSet presAssocID="{C8DD654A-24F7-40D4-AD15-CAF635F06A98}" presName="sp" presStyleCnt="0"/>
      <dgm:spPr/>
    </dgm:pt>
    <dgm:pt modelId="{1A07F828-343C-47CB-ADD9-064A67940915}" type="pres">
      <dgm:prSet presAssocID="{745197C7-D5A3-49F0-9096-F235C8F0D408}" presName="composite" presStyleCnt="0"/>
      <dgm:spPr/>
    </dgm:pt>
    <dgm:pt modelId="{AACE1D3B-6AE0-407D-9827-BA37C6EF3B26}" type="pres">
      <dgm:prSet presAssocID="{745197C7-D5A3-49F0-9096-F235C8F0D408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24ABD41-4B32-4076-BD1D-5917A91652B6}" type="pres">
      <dgm:prSet presAssocID="{745197C7-D5A3-49F0-9096-F235C8F0D408}" presName="descendantText" presStyleLbl="alignAcc1" presStyleIdx="1" presStyleCnt="5">
        <dgm:presLayoutVars>
          <dgm:bulletEnabled val="1"/>
        </dgm:presLayoutVars>
      </dgm:prSet>
      <dgm:spPr>
        <a:solidFill>
          <a:schemeClr val="accent3">
            <a:lumMod val="95000"/>
          </a:schemeClr>
        </a:solidFill>
        <a:ln w="3175"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endParaRPr lang="zh-TW" altLang="en-US"/>
        </a:p>
      </dgm:t>
    </dgm:pt>
    <dgm:pt modelId="{C42E810E-2D0E-4B65-BEF8-3D9225132E2C}" type="pres">
      <dgm:prSet presAssocID="{0AC06162-ACA7-48D3-B89B-E57145C365AD}" presName="sp" presStyleCnt="0"/>
      <dgm:spPr/>
    </dgm:pt>
    <dgm:pt modelId="{7B398D75-1DA2-411A-B4EE-854EC1C665E9}" type="pres">
      <dgm:prSet presAssocID="{81AE8A07-21E1-4871-A52A-CE4A165218FB}" presName="composite" presStyleCnt="0"/>
      <dgm:spPr/>
    </dgm:pt>
    <dgm:pt modelId="{DE80503D-1CEB-4380-A750-0136C30AF13E}" type="pres">
      <dgm:prSet presAssocID="{81AE8A07-21E1-4871-A52A-CE4A165218FB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716A363-4332-45F2-B686-AFF46D4AC253}" type="pres">
      <dgm:prSet presAssocID="{81AE8A07-21E1-4871-A52A-CE4A165218FB}" presName="descendantText" presStyleLbl="alignAcc1" presStyleIdx="2" presStyleCnt="5">
        <dgm:presLayoutVars>
          <dgm:bulletEnabled val="1"/>
        </dgm:presLayoutVars>
      </dgm:prSet>
      <dgm:spPr>
        <a:solidFill>
          <a:schemeClr val="accent3">
            <a:lumMod val="95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endParaRPr lang="zh-TW" altLang="en-US"/>
        </a:p>
      </dgm:t>
    </dgm:pt>
    <dgm:pt modelId="{0953A8B8-A55B-4F83-91DC-B0232B32B04F}" type="pres">
      <dgm:prSet presAssocID="{CDA4A549-3D97-4D52-955C-BC88A096B640}" presName="sp" presStyleCnt="0"/>
      <dgm:spPr/>
    </dgm:pt>
    <dgm:pt modelId="{5AD04C42-8DD9-4E6A-8617-D733BF8EBADD}" type="pres">
      <dgm:prSet presAssocID="{F7F7B818-78F7-484B-83AE-7D9893B1945B}" presName="composite" presStyleCnt="0"/>
      <dgm:spPr/>
    </dgm:pt>
    <dgm:pt modelId="{5606D92B-32CA-42B7-9D62-6AF9C426BF65}" type="pres">
      <dgm:prSet presAssocID="{F7F7B818-78F7-484B-83AE-7D9893B1945B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F8B1B44-5F38-4843-8273-6B0468A1CDA0}" type="pres">
      <dgm:prSet presAssocID="{F7F7B818-78F7-484B-83AE-7D9893B1945B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EC2E742-DCC5-4373-8FDB-CC0E062798EE}" type="pres">
      <dgm:prSet presAssocID="{B704C251-B44C-45E7-BDBD-38A2A876B272}" presName="sp" presStyleCnt="0"/>
      <dgm:spPr/>
    </dgm:pt>
    <dgm:pt modelId="{168971B7-D740-4730-B4C2-2F228E368EC1}" type="pres">
      <dgm:prSet presAssocID="{D9BCBD18-A060-4ABB-8D7E-3A6F2881B4BD}" presName="composite" presStyleCnt="0"/>
      <dgm:spPr/>
    </dgm:pt>
    <dgm:pt modelId="{FAA04428-5566-4C92-92DD-47F5053C3BDD}" type="pres">
      <dgm:prSet presAssocID="{D9BCBD18-A060-4ABB-8D7E-3A6F2881B4BD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1FABFC8-2510-419A-9DEF-82EB9EE3335E}" type="pres">
      <dgm:prSet presAssocID="{D9BCBD18-A060-4ABB-8D7E-3A6F2881B4BD}" presName="descendantText" presStyleLbl="alignAcc1" presStyleIdx="4" presStyleCnt="5" custLinFactNeighborY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C1DB9A7-9BCA-4640-A2FA-1948E14EBE2A}" srcId="{914BB13A-AFAB-4C21-A39E-22937F906961}" destId="{BA3D9592-AB07-4790-868C-1E2B48BFD51F}" srcOrd="0" destOrd="0" parTransId="{7DE91FCD-A84B-4945-826C-EF5AAD7F192C}" sibTransId="{C8DD654A-24F7-40D4-AD15-CAF635F06A98}"/>
    <dgm:cxn modelId="{1040C713-CDE8-4B89-8E70-90ED1A8725C4}" srcId="{F7F7B818-78F7-484B-83AE-7D9893B1945B}" destId="{9B5C6660-7989-4590-86D1-169A31BDD9C6}" srcOrd="0" destOrd="0" parTransId="{896D4477-2AF3-4F6F-A902-4A1E41D3E1A9}" sibTransId="{5AE213DD-574D-4A43-8516-D7D7C279E03B}"/>
    <dgm:cxn modelId="{91A3E97A-25F9-4D40-A792-899271FF6D8D}" type="presOf" srcId="{BA3D9592-AB07-4790-868C-1E2B48BFD51F}" destId="{F3CFFA24-1EE2-490E-9AC0-3A46E1F193D8}" srcOrd="0" destOrd="0" presId="urn:microsoft.com/office/officeart/2005/8/layout/chevron2"/>
    <dgm:cxn modelId="{94BC8F7C-B479-4BED-BA7B-CA99C5E39D66}" type="presOf" srcId="{6EEF47C8-D473-4CAC-931B-55357F05C1E5}" destId="{0B18CCBE-F741-4D17-8665-2458421106DC}" srcOrd="0" destOrd="0" presId="urn:microsoft.com/office/officeart/2005/8/layout/chevron2"/>
    <dgm:cxn modelId="{63BA6B65-2BB8-4104-94AF-E0F1C90AA170}" srcId="{914BB13A-AFAB-4C21-A39E-22937F906961}" destId="{F7F7B818-78F7-484B-83AE-7D9893B1945B}" srcOrd="3" destOrd="0" parTransId="{D0CC6480-D382-4A1E-9850-DE57D6ED9D17}" sibTransId="{B704C251-B44C-45E7-BDBD-38A2A876B272}"/>
    <dgm:cxn modelId="{A0F237B1-2BBF-4068-8DCA-2B9929A4C63F}" type="presOf" srcId="{9B5C6660-7989-4590-86D1-169A31BDD9C6}" destId="{8F8B1B44-5F38-4843-8273-6B0468A1CDA0}" srcOrd="0" destOrd="0" presId="urn:microsoft.com/office/officeart/2005/8/layout/chevron2"/>
    <dgm:cxn modelId="{0478CA8F-DDDA-41BB-A3BF-3A634726CDFE}" type="presOf" srcId="{0F18A7FA-1505-48F0-A78A-8FE186A17014}" destId="{E24ABD41-4B32-4076-BD1D-5917A91652B6}" srcOrd="0" destOrd="0" presId="urn:microsoft.com/office/officeart/2005/8/layout/chevron2"/>
    <dgm:cxn modelId="{4A212F60-0017-4A77-B0B9-B8FAEAC5D2A3}" srcId="{745197C7-D5A3-49F0-9096-F235C8F0D408}" destId="{0F18A7FA-1505-48F0-A78A-8FE186A17014}" srcOrd="0" destOrd="0" parTransId="{787E807E-0554-48FF-A351-70D5312D4CCF}" sibTransId="{59A838D1-F595-458C-A6CD-B9C7D9FECE05}"/>
    <dgm:cxn modelId="{B5372926-ED4D-4482-B628-1A8B96DE0982}" type="presOf" srcId="{C4B719BE-A829-4A25-B19D-4CAA00AFCBBD}" destId="{7716A363-4332-45F2-B686-AFF46D4AC253}" srcOrd="0" destOrd="0" presId="urn:microsoft.com/office/officeart/2005/8/layout/chevron2"/>
    <dgm:cxn modelId="{92DB023A-DCCA-4B40-B944-7EF28E4C0FE4}" srcId="{914BB13A-AFAB-4C21-A39E-22937F906961}" destId="{D9BCBD18-A060-4ABB-8D7E-3A6F2881B4BD}" srcOrd="4" destOrd="0" parTransId="{A34DC3F3-34D4-4C7F-B5B1-43798E4DE469}" sibTransId="{9774BB61-8A75-4A43-8A4E-74902D114EB4}"/>
    <dgm:cxn modelId="{C4378078-59F9-48BE-BECF-AEFE4832951A}" type="presOf" srcId="{D82C20D1-D692-4173-8AD8-9A01558ED05F}" destId="{C1FABFC8-2510-419A-9DEF-82EB9EE3335E}" srcOrd="0" destOrd="0" presId="urn:microsoft.com/office/officeart/2005/8/layout/chevron2"/>
    <dgm:cxn modelId="{FD920B17-D1C9-4376-AEDA-1989E16776C1}" srcId="{BA3D9592-AB07-4790-868C-1E2B48BFD51F}" destId="{6EEF47C8-D473-4CAC-931B-55357F05C1E5}" srcOrd="0" destOrd="0" parTransId="{E155D2B1-D415-4FC8-B454-816762289D7E}" sibTransId="{BBFDFCE6-D0D8-4031-92EB-65FC8735C214}"/>
    <dgm:cxn modelId="{4C52F411-582A-4007-8949-DA67F0E657BD}" srcId="{D9BCBD18-A060-4ABB-8D7E-3A6F2881B4BD}" destId="{D82C20D1-D692-4173-8AD8-9A01558ED05F}" srcOrd="0" destOrd="0" parTransId="{EE17130E-E2EF-4FE7-84AB-1316D86FF333}" sibTransId="{C8620559-C285-4048-94DC-BD001632171B}"/>
    <dgm:cxn modelId="{B4D4413C-6BD1-41E4-AC61-F55F6B3F86A6}" type="presOf" srcId="{745197C7-D5A3-49F0-9096-F235C8F0D408}" destId="{AACE1D3B-6AE0-407D-9827-BA37C6EF3B26}" srcOrd="0" destOrd="0" presId="urn:microsoft.com/office/officeart/2005/8/layout/chevron2"/>
    <dgm:cxn modelId="{B8DF746D-5724-45C0-B205-34CA3B51F6DC}" srcId="{914BB13A-AFAB-4C21-A39E-22937F906961}" destId="{745197C7-D5A3-49F0-9096-F235C8F0D408}" srcOrd="1" destOrd="0" parTransId="{636750C3-6E06-4271-A6F0-F6A119A08A6F}" sibTransId="{0AC06162-ACA7-48D3-B89B-E57145C365AD}"/>
    <dgm:cxn modelId="{8DE7D2B5-C51D-40F4-BC82-A53C54ECA7D0}" type="presOf" srcId="{81AE8A07-21E1-4871-A52A-CE4A165218FB}" destId="{DE80503D-1CEB-4380-A750-0136C30AF13E}" srcOrd="0" destOrd="0" presId="urn:microsoft.com/office/officeart/2005/8/layout/chevron2"/>
    <dgm:cxn modelId="{2E0B076E-43A2-4AFF-823D-7D26CDBFE4EA}" type="presOf" srcId="{914BB13A-AFAB-4C21-A39E-22937F906961}" destId="{07DB2F0E-EA51-4F35-87A9-9BDA59029A80}" srcOrd="0" destOrd="0" presId="urn:microsoft.com/office/officeart/2005/8/layout/chevron2"/>
    <dgm:cxn modelId="{ACAB6CA5-62FC-43C8-977A-A56183603FA5}" srcId="{81AE8A07-21E1-4871-A52A-CE4A165218FB}" destId="{C4B719BE-A829-4A25-B19D-4CAA00AFCBBD}" srcOrd="0" destOrd="0" parTransId="{92CDFD42-CE3E-425B-93E7-5A4E417D569D}" sibTransId="{D3B56BE6-63BD-41B3-95A4-5690B9036F7D}"/>
    <dgm:cxn modelId="{A26B9728-1012-4A9F-909D-A3D49567AA4C}" type="presOf" srcId="{D9BCBD18-A060-4ABB-8D7E-3A6F2881B4BD}" destId="{FAA04428-5566-4C92-92DD-47F5053C3BDD}" srcOrd="0" destOrd="0" presId="urn:microsoft.com/office/officeart/2005/8/layout/chevron2"/>
    <dgm:cxn modelId="{8E470C31-0E6D-482A-AFF2-77D9743AD59D}" type="presOf" srcId="{F7F7B818-78F7-484B-83AE-7D9893B1945B}" destId="{5606D92B-32CA-42B7-9D62-6AF9C426BF65}" srcOrd="0" destOrd="0" presId="urn:microsoft.com/office/officeart/2005/8/layout/chevron2"/>
    <dgm:cxn modelId="{C599940A-688D-4654-8B1F-00E58BA395D9}" srcId="{914BB13A-AFAB-4C21-A39E-22937F906961}" destId="{81AE8A07-21E1-4871-A52A-CE4A165218FB}" srcOrd="2" destOrd="0" parTransId="{D7F39E68-A490-46FF-AA2E-5029FE12EA23}" sibTransId="{CDA4A549-3D97-4D52-955C-BC88A096B640}"/>
    <dgm:cxn modelId="{CB471DC5-CC0A-44C5-A77A-A0324060E533}" type="presParOf" srcId="{07DB2F0E-EA51-4F35-87A9-9BDA59029A80}" destId="{11E4B249-6BC2-45CC-9272-F3ACA1CB04CD}" srcOrd="0" destOrd="0" presId="urn:microsoft.com/office/officeart/2005/8/layout/chevron2"/>
    <dgm:cxn modelId="{B92BA1DB-0ED4-40D6-9A56-9ECA6A41F1C1}" type="presParOf" srcId="{11E4B249-6BC2-45CC-9272-F3ACA1CB04CD}" destId="{F3CFFA24-1EE2-490E-9AC0-3A46E1F193D8}" srcOrd="0" destOrd="0" presId="urn:microsoft.com/office/officeart/2005/8/layout/chevron2"/>
    <dgm:cxn modelId="{A36354E4-35FE-4DF7-B114-1305C8F034C0}" type="presParOf" srcId="{11E4B249-6BC2-45CC-9272-F3ACA1CB04CD}" destId="{0B18CCBE-F741-4D17-8665-2458421106DC}" srcOrd="1" destOrd="0" presId="urn:microsoft.com/office/officeart/2005/8/layout/chevron2"/>
    <dgm:cxn modelId="{0BE627D4-725B-4FBF-B671-38D9AF7396EE}" type="presParOf" srcId="{07DB2F0E-EA51-4F35-87A9-9BDA59029A80}" destId="{1831D50A-F493-4E4E-84E3-89F39418532C}" srcOrd="1" destOrd="0" presId="urn:microsoft.com/office/officeart/2005/8/layout/chevron2"/>
    <dgm:cxn modelId="{CF724B93-1D49-485A-9128-5EDD52816741}" type="presParOf" srcId="{07DB2F0E-EA51-4F35-87A9-9BDA59029A80}" destId="{1A07F828-343C-47CB-ADD9-064A67940915}" srcOrd="2" destOrd="0" presId="urn:microsoft.com/office/officeart/2005/8/layout/chevron2"/>
    <dgm:cxn modelId="{9BA9DD58-B774-42C2-845C-914009771AD0}" type="presParOf" srcId="{1A07F828-343C-47CB-ADD9-064A67940915}" destId="{AACE1D3B-6AE0-407D-9827-BA37C6EF3B26}" srcOrd="0" destOrd="0" presId="urn:microsoft.com/office/officeart/2005/8/layout/chevron2"/>
    <dgm:cxn modelId="{0D105C37-713C-4E61-BBFA-672D5FF81B8C}" type="presParOf" srcId="{1A07F828-343C-47CB-ADD9-064A67940915}" destId="{E24ABD41-4B32-4076-BD1D-5917A91652B6}" srcOrd="1" destOrd="0" presId="urn:microsoft.com/office/officeart/2005/8/layout/chevron2"/>
    <dgm:cxn modelId="{44B2E85D-8E78-41C4-A447-C2BE9FDB86EF}" type="presParOf" srcId="{07DB2F0E-EA51-4F35-87A9-9BDA59029A80}" destId="{C42E810E-2D0E-4B65-BEF8-3D9225132E2C}" srcOrd="3" destOrd="0" presId="urn:microsoft.com/office/officeart/2005/8/layout/chevron2"/>
    <dgm:cxn modelId="{58475A1B-04C4-4735-AD41-86D14CA5D1C4}" type="presParOf" srcId="{07DB2F0E-EA51-4F35-87A9-9BDA59029A80}" destId="{7B398D75-1DA2-411A-B4EE-854EC1C665E9}" srcOrd="4" destOrd="0" presId="urn:microsoft.com/office/officeart/2005/8/layout/chevron2"/>
    <dgm:cxn modelId="{E0B425A4-9384-406E-90BC-31EC989A50AC}" type="presParOf" srcId="{7B398D75-1DA2-411A-B4EE-854EC1C665E9}" destId="{DE80503D-1CEB-4380-A750-0136C30AF13E}" srcOrd="0" destOrd="0" presId="urn:microsoft.com/office/officeart/2005/8/layout/chevron2"/>
    <dgm:cxn modelId="{08E14CE0-1296-436D-A17F-49347C4D473B}" type="presParOf" srcId="{7B398D75-1DA2-411A-B4EE-854EC1C665E9}" destId="{7716A363-4332-45F2-B686-AFF46D4AC253}" srcOrd="1" destOrd="0" presId="urn:microsoft.com/office/officeart/2005/8/layout/chevron2"/>
    <dgm:cxn modelId="{419F354F-BE77-4450-AB41-0A4B55176134}" type="presParOf" srcId="{07DB2F0E-EA51-4F35-87A9-9BDA59029A80}" destId="{0953A8B8-A55B-4F83-91DC-B0232B32B04F}" srcOrd="5" destOrd="0" presId="urn:microsoft.com/office/officeart/2005/8/layout/chevron2"/>
    <dgm:cxn modelId="{EE8E7D07-E913-49A0-B86D-D053726E022B}" type="presParOf" srcId="{07DB2F0E-EA51-4F35-87A9-9BDA59029A80}" destId="{5AD04C42-8DD9-4E6A-8617-D733BF8EBADD}" srcOrd="6" destOrd="0" presId="urn:microsoft.com/office/officeart/2005/8/layout/chevron2"/>
    <dgm:cxn modelId="{B0A3F533-B698-4A18-A6BD-11332724AA41}" type="presParOf" srcId="{5AD04C42-8DD9-4E6A-8617-D733BF8EBADD}" destId="{5606D92B-32CA-42B7-9D62-6AF9C426BF65}" srcOrd="0" destOrd="0" presId="urn:microsoft.com/office/officeart/2005/8/layout/chevron2"/>
    <dgm:cxn modelId="{82C88A38-C530-4130-9C22-923E421399C0}" type="presParOf" srcId="{5AD04C42-8DD9-4E6A-8617-D733BF8EBADD}" destId="{8F8B1B44-5F38-4843-8273-6B0468A1CDA0}" srcOrd="1" destOrd="0" presId="urn:microsoft.com/office/officeart/2005/8/layout/chevron2"/>
    <dgm:cxn modelId="{F2E850C4-C667-4435-BB40-54945C9B9022}" type="presParOf" srcId="{07DB2F0E-EA51-4F35-87A9-9BDA59029A80}" destId="{8EC2E742-DCC5-4373-8FDB-CC0E062798EE}" srcOrd="7" destOrd="0" presId="urn:microsoft.com/office/officeart/2005/8/layout/chevron2"/>
    <dgm:cxn modelId="{95C3947D-D524-4EEC-9558-DD7F43B6470D}" type="presParOf" srcId="{07DB2F0E-EA51-4F35-87A9-9BDA59029A80}" destId="{168971B7-D740-4730-B4C2-2F228E368EC1}" srcOrd="8" destOrd="0" presId="urn:microsoft.com/office/officeart/2005/8/layout/chevron2"/>
    <dgm:cxn modelId="{72A915D6-9F11-4E3A-A2D2-F269FD823CBC}" type="presParOf" srcId="{168971B7-D740-4730-B4C2-2F228E368EC1}" destId="{FAA04428-5566-4C92-92DD-47F5053C3BDD}" srcOrd="0" destOrd="0" presId="urn:microsoft.com/office/officeart/2005/8/layout/chevron2"/>
    <dgm:cxn modelId="{5B0D6719-C87C-42C3-A40B-04D3B716E64F}" type="presParOf" srcId="{168971B7-D740-4730-B4C2-2F228E368EC1}" destId="{C1FABFC8-2510-419A-9DEF-82EB9EE3335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35781E-2BF2-46E8-9576-908BF8B6B5DD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06167A43-B6DD-4117-BA93-3A461344C8FC}">
      <dgm:prSet/>
      <dgm:spPr/>
      <dgm:t>
        <a:bodyPr/>
        <a:lstStyle/>
        <a:p>
          <a:pPr algn="ctr" rtl="0"/>
          <a:r>
            <a:rPr kumimoji="1" lang="zh-TW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成立依據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248A7A4-17B8-4322-9D03-DC2E822227B2}" type="parTrans" cxnId="{107601E4-831C-4260-9BEA-3C13BC1EB464}">
      <dgm:prSet/>
      <dgm:spPr/>
      <dgm:t>
        <a:bodyPr/>
        <a:lstStyle/>
        <a:p>
          <a:endParaRPr lang="zh-TW" altLang="en-US"/>
        </a:p>
      </dgm:t>
    </dgm:pt>
    <dgm:pt modelId="{6DB2B05C-058C-48EA-A493-601C70708351}" type="sibTrans" cxnId="{107601E4-831C-4260-9BEA-3C13BC1EB464}">
      <dgm:prSet/>
      <dgm:spPr/>
      <dgm:t>
        <a:bodyPr/>
        <a:lstStyle/>
        <a:p>
          <a:endParaRPr lang="zh-TW" altLang="en-US"/>
        </a:p>
      </dgm:t>
    </dgm:pt>
    <dgm:pt modelId="{8D925098-2369-4406-B3C7-5A3BA6FA243B}">
      <dgm:prSet/>
      <dgm:spPr/>
      <dgm:t>
        <a:bodyPr/>
        <a:lstStyle/>
        <a:p>
          <a:pPr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行政院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104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年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4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月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7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日院授發資字第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1041500401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號函頒「政府資料開放諮詢小組設置要點」。</a:t>
          </a:r>
          <a:endParaRPr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090A3EF-4879-4413-8BB3-797E370A33EB}" type="parTrans" cxnId="{923FDC06-2658-4156-BCA7-E1E652806D75}">
      <dgm:prSet/>
      <dgm:spPr/>
      <dgm:t>
        <a:bodyPr/>
        <a:lstStyle/>
        <a:p>
          <a:endParaRPr lang="zh-TW" altLang="en-US"/>
        </a:p>
      </dgm:t>
    </dgm:pt>
    <dgm:pt modelId="{D9A628BE-A28A-460F-8814-9EB57D1F7684}" type="sibTrans" cxnId="{923FDC06-2658-4156-BCA7-E1E652806D75}">
      <dgm:prSet/>
      <dgm:spPr/>
      <dgm:t>
        <a:bodyPr/>
        <a:lstStyle/>
        <a:p>
          <a:endParaRPr lang="zh-TW" altLang="en-US"/>
        </a:p>
      </dgm:t>
    </dgm:pt>
    <dgm:pt modelId="{981E76B2-4572-4C5A-8A17-9E743EF697AB}">
      <dgm:prSet/>
      <dgm:spPr/>
      <dgm:t>
        <a:bodyPr/>
        <a:lstStyle/>
        <a:p>
          <a:pPr algn="ctr"/>
          <a:r>
            <a:rPr kumimoji="1" lang="zh-TW" altLang="en-US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組織</a:t>
          </a:r>
          <a:r>
            <a:rPr kumimoji="1" lang="zh-TW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架構</a:t>
          </a:r>
          <a:endParaRPr lang="zh-TW" altLang="en-US" dirty="0"/>
        </a:p>
      </dgm:t>
    </dgm:pt>
    <dgm:pt modelId="{9B2A3D88-D319-474F-95F6-7F7693192A35}" type="parTrans" cxnId="{0922287A-194E-4C6A-9EEE-886774497864}">
      <dgm:prSet/>
      <dgm:spPr/>
      <dgm:t>
        <a:bodyPr/>
        <a:lstStyle/>
        <a:p>
          <a:endParaRPr lang="zh-TW" altLang="en-US"/>
        </a:p>
      </dgm:t>
    </dgm:pt>
    <dgm:pt modelId="{97AFA818-50DA-4C44-98AD-37DF92CB6B12}" type="sibTrans" cxnId="{0922287A-194E-4C6A-9EEE-886774497864}">
      <dgm:prSet/>
      <dgm:spPr/>
      <dgm:t>
        <a:bodyPr/>
        <a:lstStyle/>
        <a:p>
          <a:endParaRPr lang="zh-TW" altLang="en-US"/>
        </a:p>
      </dgm:t>
    </dgm:pt>
    <dgm:pt modelId="{5280DDA4-1DDA-431D-B1A5-F86647DE9DBE}">
      <dgm:prSet/>
      <dgm:spPr/>
      <dgm:t>
        <a:bodyPr/>
        <a:lstStyle/>
        <a:p>
          <a:pPr algn="l"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機關代表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人：由業務單位主管及所屬機關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檔案局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)  </a:t>
          </a:r>
          <a:r>
            <a:rPr kumimoji="1" lang="zh-TW" alt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副局長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擔任。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D0930C7-1C35-4C70-A804-A8BAD5FB59DE}" type="parTrans" cxnId="{5D64E6D6-24D7-4F82-9A99-2BC394F54EE8}">
      <dgm:prSet/>
      <dgm:spPr/>
      <dgm:t>
        <a:bodyPr/>
        <a:lstStyle/>
        <a:p>
          <a:endParaRPr lang="zh-TW" altLang="en-US"/>
        </a:p>
      </dgm:t>
    </dgm:pt>
    <dgm:pt modelId="{96470270-E829-4563-91F1-12F09347D5AB}" type="sibTrans" cxnId="{5D64E6D6-24D7-4F82-9A99-2BC394F54EE8}">
      <dgm:prSet/>
      <dgm:spPr/>
      <dgm:t>
        <a:bodyPr/>
        <a:lstStyle/>
        <a:p>
          <a:endParaRPr lang="zh-TW" altLang="en-US"/>
        </a:p>
      </dgm:t>
    </dgm:pt>
    <dgm:pt modelId="{B70368A6-F6BE-4B30-A44D-278043DB5B96}">
      <dgm:prSet/>
      <dgm:spPr/>
      <dgm:t>
        <a:bodyPr/>
        <a:lstStyle/>
        <a:p>
          <a:pPr algn="l"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民間代表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6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人：由業務領域代表、公（協）會、社會團體代表、具相關學術專長或實務經驗之學者專家擔任。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99E2941-4604-4E44-B8F2-63A582C318BF}" type="parTrans" cxnId="{1650DD72-2EF1-48DD-8AB8-69893D0CFA7E}">
      <dgm:prSet/>
      <dgm:spPr/>
      <dgm:t>
        <a:bodyPr/>
        <a:lstStyle/>
        <a:p>
          <a:endParaRPr lang="zh-TW" altLang="en-US"/>
        </a:p>
      </dgm:t>
    </dgm:pt>
    <dgm:pt modelId="{0A005F71-7D88-4F7A-97FE-F78A4EBB4B07}" type="sibTrans" cxnId="{1650DD72-2EF1-48DD-8AB8-69893D0CFA7E}">
      <dgm:prSet/>
      <dgm:spPr/>
      <dgm:t>
        <a:bodyPr/>
        <a:lstStyle/>
        <a:p>
          <a:endParaRPr lang="zh-TW" altLang="en-US"/>
        </a:p>
      </dgm:t>
    </dgm:pt>
    <dgm:pt modelId="{7E594A7A-64A6-44E8-8963-5055C95ADC13}">
      <dgm:prSet/>
      <dgm:spPr/>
      <dgm:t>
        <a:bodyPr/>
        <a:lstStyle/>
        <a:p>
          <a:pPr algn="l"/>
          <a:r>
            <a:rPr kumimoji="1" lang="zh-TW" altLang="en-US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召</a:t>
          </a:r>
          <a:r>
            <a:rPr kumimoji="1" lang="zh-TW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集人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人：由本會資訊長擔任。</a:t>
          </a:r>
          <a:endParaRPr lang="zh-TW" altLang="en-US" dirty="0"/>
        </a:p>
      </dgm:t>
    </dgm:pt>
    <dgm:pt modelId="{8BAFAB93-261A-4208-A46B-B8D4B7168688}" type="parTrans" cxnId="{57437B65-0A7F-43D4-9A4C-C10000043708}">
      <dgm:prSet/>
      <dgm:spPr/>
      <dgm:t>
        <a:bodyPr/>
        <a:lstStyle/>
        <a:p>
          <a:endParaRPr lang="zh-TW" altLang="en-US"/>
        </a:p>
      </dgm:t>
    </dgm:pt>
    <dgm:pt modelId="{1D441AC8-5DD8-480B-B2D1-24D0B797869F}" type="sibTrans" cxnId="{57437B65-0A7F-43D4-9A4C-C10000043708}">
      <dgm:prSet/>
      <dgm:spPr/>
      <dgm:t>
        <a:bodyPr/>
        <a:lstStyle/>
        <a:p>
          <a:endParaRPr lang="zh-TW" altLang="en-US"/>
        </a:p>
      </dgm:t>
    </dgm:pt>
    <dgm:pt modelId="{5A2CAA9E-0300-4D5C-8DB7-93C53830373F}" type="pres">
      <dgm:prSet presAssocID="{CC35781E-2BF2-46E8-9576-908BF8B6B5D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47CC5C8-3922-44FB-9115-C20D33CDC874}" type="pres">
      <dgm:prSet presAssocID="{06167A43-B6DD-4117-BA93-3A461344C8FC}" presName="parentText" presStyleLbl="node1" presStyleIdx="0" presStyleCnt="2" custScaleX="30003" custLinFactNeighborX="-33861" custLinFactNeighborY="1795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43CAECD-1138-4C7C-A644-BE5ACCE3EAC1}" type="pres">
      <dgm:prSet presAssocID="{06167A43-B6DD-4117-BA93-3A461344C8FC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CB0DE7A-6B27-434C-B020-3D5689EADAD8}" type="pres">
      <dgm:prSet presAssocID="{981E76B2-4572-4C5A-8A17-9E743EF697AB}" presName="parentText" presStyleLbl="node1" presStyleIdx="1" presStyleCnt="2" custScaleX="29297" custScaleY="102717" custLinFactNeighborX="-34214" custLinFactNeighborY="586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F9B2EC0-E4C8-4651-9B25-2BA0A107D2F8}" type="pres">
      <dgm:prSet presAssocID="{981E76B2-4572-4C5A-8A17-9E743EF697AB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6D6350FA-6C42-4FF4-9A7F-C9145F14C788}" type="presOf" srcId="{B70368A6-F6BE-4B30-A44D-278043DB5B96}" destId="{5F9B2EC0-E4C8-4651-9B25-2BA0A107D2F8}" srcOrd="0" destOrd="2" presId="urn:microsoft.com/office/officeart/2005/8/layout/vList2"/>
    <dgm:cxn modelId="{E3F88367-5EAE-45EF-83D4-5CD2527F1F6E}" type="presOf" srcId="{06167A43-B6DD-4117-BA93-3A461344C8FC}" destId="{547CC5C8-3922-44FB-9115-C20D33CDC874}" srcOrd="0" destOrd="0" presId="urn:microsoft.com/office/officeart/2005/8/layout/vList2"/>
    <dgm:cxn modelId="{107601E4-831C-4260-9BEA-3C13BC1EB464}" srcId="{CC35781E-2BF2-46E8-9576-908BF8B6B5DD}" destId="{06167A43-B6DD-4117-BA93-3A461344C8FC}" srcOrd="0" destOrd="0" parTransId="{E248A7A4-17B8-4322-9D03-DC2E822227B2}" sibTransId="{6DB2B05C-058C-48EA-A493-601C70708351}"/>
    <dgm:cxn modelId="{5D64E6D6-24D7-4F82-9A99-2BC394F54EE8}" srcId="{981E76B2-4572-4C5A-8A17-9E743EF697AB}" destId="{5280DDA4-1DDA-431D-B1A5-F86647DE9DBE}" srcOrd="1" destOrd="0" parTransId="{ED0930C7-1C35-4C70-A804-A8BAD5FB59DE}" sibTransId="{96470270-E829-4563-91F1-12F09347D5AB}"/>
    <dgm:cxn modelId="{C4FCB3F8-BE8A-45CB-8778-9031B0F4CDA8}" type="presOf" srcId="{CC35781E-2BF2-46E8-9576-908BF8B6B5DD}" destId="{5A2CAA9E-0300-4D5C-8DB7-93C53830373F}" srcOrd="0" destOrd="0" presId="urn:microsoft.com/office/officeart/2005/8/layout/vList2"/>
    <dgm:cxn modelId="{AA64E2E2-9D27-41D9-A421-64381C1BF363}" type="presOf" srcId="{7E594A7A-64A6-44E8-8963-5055C95ADC13}" destId="{5F9B2EC0-E4C8-4651-9B25-2BA0A107D2F8}" srcOrd="0" destOrd="0" presId="urn:microsoft.com/office/officeart/2005/8/layout/vList2"/>
    <dgm:cxn modelId="{0922287A-194E-4C6A-9EEE-886774497864}" srcId="{CC35781E-2BF2-46E8-9576-908BF8B6B5DD}" destId="{981E76B2-4572-4C5A-8A17-9E743EF697AB}" srcOrd="1" destOrd="0" parTransId="{9B2A3D88-D319-474F-95F6-7F7693192A35}" sibTransId="{97AFA818-50DA-4C44-98AD-37DF92CB6B12}"/>
    <dgm:cxn modelId="{4BC75DE6-C675-4D2D-AD53-35B8BB8790AE}" type="presOf" srcId="{981E76B2-4572-4C5A-8A17-9E743EF697AB}" destId="{DCB0DE7A-6B27-434C-B020-3D5689EADAD8}" srcOrd="0" destOrd="0" presId="urn:microsoft.com/office/officeart/2005/8/layout/vList2"/>
    <dgm:cxn modelId="{9D5E4791-AE12-462C-B3B4-8163059A5481}" type="presOf" srcId="{8D925098-2369-4406-B3C7-5A3BA6FA243B}" destId="{D43CAECD-1138-4C7C-A644-BE5ACCE3EAC1}" srcOrd="0" destOrd="0" presId="urn:microsoft.com/office/officeart/2005/8/layout/vList2"/>
    <dgm:cxn modelId="{923FDC06-2658-4156-BCA7-E1E652806D75}" srcId="{06167A43-B6DD-4117-BA93-3A461344C8FC}" destId="{8D925098-2369-4406-B3C7-5A3BA6FA243B}" srcOrd="0" destOrd="0" parTransId="{B090A3EF-4879-4413-8BB3-797E370A33EB}" sibTransId="{D9A628BE-A28A-460F-8814-9EB57D1F7684}"/>
    <dgm:cxn modelId="{57437B65-0A7F-43D4-9A4C-C10000043708}" srcId="{981E76B2-4572-4C5A-8A17-9E743EF697AB}" destId="{7E594A7A-64A6-44E8-8963-5055C95ADC13}" srcOrd="0" destOrd="0" parTransId="{8BAFAB93-261A-4208-A46B-B8D4B7168688}" sibTransId="{1D441AC8-5DD8-480B-B2D1-24D0B797869F}"/>
    <dgm:cxn modelId="{1650DD72-2EF1-48DD-8AB8-69893D0CFA7E}" srcId="{981E76B2-4572-4C5A-8A17-9E743EF697AB}" destId="{B70368A6-F6BE-4B30-A44D-278043DB5B96}" srcOrd="2" destOrd="0" parTransId="{D99E2941-4604-4E44-B8F2-63A582C318BF}" sibTransId="{0A005F71-7D88-4F7A-97FE-F78A4EBB4B07}"/>
    <dgm:cxn modelId="{B9D2790E-2AA8-4929-B635-5B3E779F50DD}" type="presOf" srcId="{5280DDA4-1DDA-431D-B1A5-F86647DE9DBE}" destId="{5F9B2EC0-E4C8-4651-9B25-2BA0A107D2F8}" srcOrd="0" destOrd="1" presId="urn:microsoft.com/office/officeart/2005/8/layout/vList2"/>
    <dgm:cxn modelId="{CDF79B43-5D12-47F8-BDE6-A1F292340C2E}" type="presParOf" srcId="{5A2CAA9E-0300-4D5C-8DB7-93C53830373F}" destId="{547CC5C8-3922-44FB-9115-C20D33CDC874}" srcOrd="0" destOrd="0" presId="urn:microsoft.com/office/officeart/2005/8/layout/vList2"/>
    <dgm:cxn modelId="{E0681DB1-D4AD-4EC3-B913-DA66F642FA82}" type="presParOf" srcId="{5A2CAA9E-0300-4D5C-8DB7-93C53830373F}" destId="{D43CAECD-1138-4C7C-A644-BE5ACCE3EAC1}" srcOrd="1" destOrd="0" presId="urn:microsoft.com/office/officeart/2005/8/layout/vList2"/>
    <dgm:cxn modelId="{BE67F450-C429-41C3-9DF0-96F582E561A4}" type="presParOf" srcId="{5A2CAA9E-0300-4D5C-8DB7-93C53830373F}" destId="{DCB0DE7A-6B27-434C-B020-3D5689EADAD8}" srcOrd="2" destOrd="0" presId="urn:microsoft.com/office/officeart/2005/8/layout/vList2"/>
    <dgm:cxn modelId="{6AEAAFD4-3862-4137-B32A-CF846594E915}" type="presParOf" srcId="{5A2CAA9E-0300-4D5C-8DB7-93C53830373F}" destId="{5F9B2EC0-E4C8-4651-9B25-2BA0A107D2F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35781E-2BF2-46E8-9576-908BF8B6B5DD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06167A43-B6DD-4117-BA93-3A461344C8FC}">
      <dgm:prSet/>
      <dgm:spPr/>
      <dgm:t>
        <a:bodyPr/>
        <a:lstStyle/>
        <a:p>
          <a:pPr algn="ctr" rtl="0"/>
          <a:r>
            <a:rPr kumimoji="1" lang="zh-TW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委員任期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248A7A4-17B8-4322-9D03-DC2E822227B2}" type="parTrans" cxnId="{107601E4-831C-4260-9BEA-3C13BC1EB464}">
      <dgm:prSet/>
      <dgm:spPr/>
      <dgm:t>
        <a:bodyPr/>
        <a:lstStyle/>
        <a:p>
          <a:endParaRPr lang="zh-TW" altLang="en-US"/>
        </a:p>
      </dgm:t>
    </dgm:pt>
    <dgm:pt modelId="{6DB2B05C-058C-48EA-A493-601C70708351}" type="sibTrans" cxnId="{107601E4-831C-4260-9BEA-3C13BC1EB464}">
      <dgm:prSet/>
      <dgm:spPr/>
      <dgm:t>
        <a:bodyPr/>
        <a:lstStyle/>
        <a:p>
          <a:endParaRPr lang="zh-TW" altLang="en-US"/>
        </a:p>
      </dgm:t>
    </dgm:pt>
    <dgm:pt modelId="{8305392E-8A47-4926-800E-8090C4BCC93F}">
      <dgm:prSet/>
      <dgm:spPr/>
      <dgm:t>
        <a:bodyPr/>
        <a:lstStyle/>
        <a:p>
          <a:pPr algn="ctr" rtl="0"/>
          <a:r>
            <a:rPr kumimoji="1" lang="zh-TW" altLang="en-US" b="1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小組任務</a:t>
          </a:r>
          <a:endParaRPr kumimoji="1" lang="zh-TW" b="1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0F327DE-850D-4540-82F7-A93AA1DAB12B}" type="parTrans" cxnId="{F3FE4902-5952-444D-BB60-A958361C178D}">
      <dgm:prSet/>
      <dgm:spPr/>
      <dgm:t>
        <a:bodyPr/>
        <a:lstStyle/>
        <a:p>
          <a:endParaRPr lang="zh-TW" altLang="en-US"/>
        </a:p>
      </dgm:t>
    </dgm:pt>
    <dgm:pt modelId="{AB4C7206-7D9E-4899-9DA3-EC4AB7FF4AEE}" type="sibTrans" cxnId="{F3FE4902-5952-444D-BB60-A958361C178D}">
      <dgm:prSet/>
      <dgm:spPr/>
      <dgm:t>
        <a:bodyPr/>
        <a:lstStyle/>
        <a:p>
          <a:endParaRPr lang="zh-TW" altLang="en-US"/>
        </a:p>
      </dgm:t>
    </dgm:pt>
    <dgm:pt modelId="{58F8C2BF-06E5-4710-9984-D4890D7697D9}">
      <dgm:prSet/>
      <dgm:spPr/>
      <dgm:t>
        <a:bodyPr/>
        <a:lstStyle/>
        <a:p>
          <a:pPr marL="354013" indent="-354013"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擬訂</a:t>
          </a:r>
          <a:r>
            <a:rPr kumimoji="1" lang="zh-TW" alt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本會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與所屬機關資料開放行動策略，強化政府資料開放質與量、建立推廣及績效管理機制。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881C9C7-3155-424E-86A7-EA1F195A9468}" type="parTrans" cxnId="{A5C76EBC-2447-49A9-B7D5-DC9CD01DA423}">
      <dgm:prSet/>
      <dgm:spPr/>
      <dgm:t>
        <a:bodyPr/>
        <a:lstStyle/>
        <a:p>
          <a:endParaRPr lang="zh-TW" altLang="en-US"/>
        </a:p>
      </dgm:t>
    </dgm:pt>
    <dgm:pt modelId="{5CEEAF28-CE1C-4FB3-BEDA-1894898A1806}" type="sibTrans" cxnId="{A5C76EBC-2447-49A9-B7D5-DC9CD01DA423}">
      <dgm:prSet/>
      <dgm:spPr/>
      <dgm:t>
        <a:bodyPr/>
        <a:lstStyle/>
        <a:p>
          <a:endParaRPr lang="zh-TW" altLang="en-US"/>
        </a:p>
      </dgm:t>
    </dgm:pt>
    <dgm:pt modelId="{2C8247C1-6436-4C93-BC23-1DA6A977A8DD}">
      <dgm:prSet/>
      <dgm:spPr/>
      <dgm:t>
        <a:bodyPr/>
        <a:lstStyle/>
        <a:p>
          <a:pPr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機關代表：隨本職進退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0A735BC-9C48-4DBF-83EB-004473259A40}" type="parTrans" cxnId="{0B92B5B4-049E-497F-899C-F7EE76A1D4FD}">
      <dgm:prSet/>
      <dgm:spPr/>
      <dgm:t>
        <a:bodyPr/>
        <a:lstStyle/>
        <a:p>
          <a:endParaRPr lang="zh-TW" altLang="en-US"/>
        </a:p>
      </dgm:t>
    </dgm:pt>
    <dgm:pt modelId="{FEFF920F-9898-40B2-80F2-1B49714A3A78}" type="sibTrans" cxnId="{0B92B5B4-049E-497F-899C-F7EE76A1D4FD}">
      <dgm:prSet/>
      <dgm:spPr/>
      <dgm:t>
        <a:bodyPr/>
        <a:lstStyle/>
        <a:p>
          <a:endParaRPr lang="zh-TW" altLang="en-US"/>
        </a:p>
      </dgm:t>
    </dgm:pt>
    <dgm:pt modelId="{D2969C97-5FD6-4CD6-855D-617952EAE849}">
      <dgm:prSet/>
      <dgm:spPr/>
      <dgm:t>
        <a:bodyPr/>
        <a:lstStyle/>
        <a:p>
          <a:pPr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民間代表：</a:t>
          </a:r>
          <a:r>
            <a:rPr kumimoji="1" 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年，期滿得續聘</a:t>
          </a:r>
          <a:r>
            <a:rPr kumimoji="1" lang="en-US" alt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altLang="en-US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次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829EACB-4035-407E-8A32-C99C674046FE}" type="parTrans" cxnId="{6BF3D5D0-9F8B-4CF1-B259-9C8294FC8803}">
      <dgm:prSet/>
      <dgm:spPr/>
      <dgm:t>
        <a:bodyPr/>
        <a:lstStyle/>
        <a:p>
          <a:endParaRPr lang="zh-TW" altLang="en-US"/>
        </a:p>
      </dgm:t>
    </dgm:pt>
    <dgm:pt modelId="{381F4502-5BD6-4E15-9246-00142783FAC1}" type="sibTrans" cxnId="{6BF3D5D0-9F8B-4CF1-B259-9C8294FC8803}">
      <dgm:prSet/>
      <dgm:spPr/>
      <dgm:t>
        <a:bodyPr/>
        <a:lstStyle/>
        <a:p>
          <a:endParaRPr lang="zh-TW" altLang="en-US"/>
        </a:p>
      </dgm:t>
    </dgm:pt>
    <dgm:pt modelId="{098137ED-2C93-46A3-A686-CD2112C6E9F0}">
      <dgm:prSet/>
      <dgm:spPr/>
      <dgm:t>
        <a:bodyPr/>
        <a:lstStyle/>
        <a:p>
          <a:pPr marL="354013" indent="-354013"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規劃指導所屬機關資料開放，推動資料集分級、收費疑義之諮詢及協調。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CDC3EA4-519E-4B3D-8319-657A8429AE05}" type="parTrans" cxnId="{8FC9594E-206B-4706-AD42-81A805D50471}">
      <dgm:prSet/>
      <dgm:spPr/>
      <dgm:t>
        <a:bodyPr/>
        <a:lstStyle/>
        <a:p>
          <a:endParaRPr lang="zh-TW" altLang="en-US"/>
        </a:p>
      </dgm:t>
    </dgm:pt>
    <dgm:pt modelId="{24E35AB4-1135-4F9C-9DE1-CF4C6CDA6C16}" type="sibTrans" cxnId="{8FC9594E-206B-4706-AD42-81A805D50471}">
      <dgm:prSet/>
      <dgm:spPr/>
      <dgm:t>
        <a:bodyPr/>
        <a:lstStyle/>
        <a:p>
          <a:endParaRPr lang="zh-TW" altLang="en-US"/>
        </a:p>
      </dgm:t>
    </dgm:pt>
    <dgm:pt modelId="{790C7307-F9DA-4FE4-AFFD-4E082496139B}">
      <dgm:prSet/>
      <dgm:spPr/>
      <dgm:t>
        <a:bodyPr/>
        <a:lstStyle/>
        <a:p>
          <a:pPr marL="354013" indent="-354013" rtl="0"/>
          <a:r>
            <a:rPr kumimoji="1" 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建立政府與民間溝通管道，促進多元領域代表參與資料開放諮詢及協調，共商解決方案。</a:t>
          </a:r>
          <a:endParaRPr kumimoji="1" lang="zh-TW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A09EE1C9-B86B-4659-8716-B25FB5B5BB17}" type="parTrans" cxnId="{2D20E594-7718-4B61-A2B7-B1F1C068311C}">
      <dgm:prSet/>
      <dgm:spPr/>
      <dgm:t>
        <a:bodyPr/>
        <a:lstStyle/>
        <a:p>
          <a:endParaRPr lang="zh-TW" altLang="en-US"/>
        </a:p>
      </dgm:t>
    </dgm:pt>
    <dgm:pt modelId="{A751BCE5-AEDA-4118-BDD3-D12A8B80F719}" type="sibTrans" cxnId="{2D20E594-7718-4B61-A2B7-B1F1C068311C}">
      <dgm:prSet/>
      <dgm:spPr/>
      <dgm:t>
        <a:bodyPr/>
        <a:lstStyle/>
        <a:p>
          <a:endParaRPr lang="zh-TW" altLang="en-US"/>
        </a:p>
      </dgm:t>
    </dgm:pt>
    <dgm:pt modelId="{5A2CAA9E-0300-4D5C-8DB7-93C53830373F}" type="pres">
      <dgm:prSet presAssocID="{CC35781E-2BF2-46E8-9576-908BF8B6B5D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47CC5C8-3922-44FB-9115-C20D33CDC874}" type="pres">
      <dgm:prSet presAssocID="{06167A43-B6DD-4117-BA93-3A461344C8FC}" presName="parentText" presStyleLbl="node1" presStyleIdx="0" presStyleCnt="2" custScaleX="30003" custLinFactNeighborX="-33861" custLinFactNeighborY="1795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43CAECD-1138-4C7C-A644-BE5ACCE3EAC1}" type="pres">
      <dgm:prSet presAssocID="{06167A43-B6DD-4117-BA93-3A461344C8FC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0A9C57A-C5DA-4101-B34A-93AA0549E520}" type="pres">
      <dgm:prSet presAssocID="{8305392E-8A47-4926-800E-8090C4BCC93F}" presName="parentText" presStyleLbl="node1" presStyleIdx="1" presStyleCnt="2" custScaleX="30003" custLinFactNeighborX="-33861" custLinFactNeighborY="649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01BAB4A-9587-4CB3-B735-4A6826CFBDA2}" type="pres">
      <dgm:prSet presAssocID="{8305392E-8A47-4926-800E-8090C4BCC93F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F3FE4902-5952-444D-BB60-A958361C178D}" srcId="{CC35781E-2BF2-46E8-9576-908BF8B6B5DD}" destId="{8305392E-8A47-4926-800E-8090C4BCC93F}" srcOrd="1" destOrd="0" parTransId="{10F327DE-850D-4540-82F7-A93AA1DAB12B}" sibTransId="{AB4C7206-7D9E-4899-9DA3-EC4AB7FF4AEE}"/>
    <dgm:cxn modelId="{95470F15-F131-4883-BB4C-7A3F103350B5}" type="presOf" srcId="{CC35781E-2BF2-46E8-9576-908BF8B6B5DD}" destId="{5A2CAA9E-0300-4D5C-8DB7-93C53830373F}" srcOrd="0" destOrd="0" presId="urn:microsoft.com/office/officeart/2005/8/layout/vList2"/>
    <dgm:cxn modelId="{3522CA5B-A6C1-467E-BD52-3A5DF60F3482}" type="presOf" srcId="{58F8C2BF-06E5-4710-9984-D4890D7697D9}" destId="{A01BAB4A-9587-4CB3-B735-4A6826CFBDA2}" srcOrd="0" destOrd="0" presId="urn:microsoft.com/office/officeart/2005/8/layout/vList2"/>
    <dgm:cxn modelId="{2D20E594-7718-4B61-A2B7-B1F1C068311C}" srcId="{8305392E-8A47-4926-800E-8090C4BCC93F}" destId="{790C7307-F9DA-4FE4-AFFD-4E082496139B}" srcOrd="2" destOrd="0" parTransId="{A09EE1C9-B86B-4659-8716-B25FB5B5BB17}" sibTransId="{A751BCE5-AEDA-4118-BDD3-D12A8B80F719}"/>
    <dgm:cxn modelId="{8FC9594E-206B-4706-AD42-81A805D50471}" srcId="{8305392E-8A47-4926-800E-8090C4BCC93F}" destId="{098137ED-2C93-46A3-A686-CD2112C6E9F0}" srcOrd="1" destOrd="0" parTransId="{CCDC3EA4-519E-4B3D-8319-657A8429AE05}" sibTransId="{24E35AB4-1135-4F9C-9DE1-CF4C6CDA6C16}"/>
    <dgm:cxn modelId="{5B1BDC06-D84A-4405-AFA8-3668F8380C80}" type="presOf" srcId="{2C8247C1-6436-4C93-BC23-1DA6A977A8DD}" destId="{D43CAECD-1138-4C7C-A644-BE5ACCE3EAC1}" srcOrd="0" destOrd="0" presId="urn:microsoft.com/office/officeart/2005/8/layout/vList2"/>
    <dgm:cxn modelId="{107601E4-831C-4260-9BEA-3C13BC1EB464}" srcId="{CC35781E-2BF2-46E8-9576-908BF8B6B5DD}" destId="{06167A43-B6DD-4117-BA93-3A461344C8FC}" srcOrd="0" destOrd="0" parTransId="{E248A7A4-17B8-4322-9D03-DC2E822227B2}" sibTransId="{6DB2B05C-058C-48EA-A493-601C70708351}"/>
    <dgm:cxn modelId="{47157FB6-18E9-4AAE-837E-789ACC8F4483}" type="presOf" srcId="{06167A43-B6DD-4117-BA93-3A461344C8FC}" destId="{547CC5C8-3922-44FB-9115-C20D33CDC874}" srcOrd="0" destOrd="0" presId="urn:microsoft.com/office/officeart/2005/8/layout/vList2"/>
    <dgm:cxn modelId="{0B92B5B4-049E-497F-899C-F7EE76A1D4FD}" srcId="{06167A43-B6DD-4117-BA93-3A461344C8FC}" destId="{2C8247C1-6436-4C93-BC23-1DA6A977A8DD}" srcOrd="0" destOrd="0" parTransId="{40A735BC-9C48-4DBF-83EB-004473259A40}" sibTransId="{FEFF920F-9898-40B2-80F2-1B49714A3A78}"/>
    <dgm:cxn modelId="{7FF3A30F-7BA5-4974-9E6B-407139B9DB52}" type="presOf" srcId="{790C7307-F9DA-4FE4-AFFD-4E082496139B}" destId="{A01BAB4A-9587-4CB3-B735-4A6826CFBDA2}" srcOrd="0" destOrd="2" presId="urn:microsoft.com/office/officeart/2005/8/layout/vList2"/>
    <dgm:cxn modelId="{6BF3D5D0-9F8B-4CF1-B259-9C8294FC8803}" srcId="{06167A43-B6DD-4117-BA93-3A461344C8FC}" destId="{D2969C97-5FD6-4CD6-855D-617952EAE849}" srcOrd="1" destOrd="0" parTransId="{C829EACB-4035-407E-8A32-C99C674046FE}" sibTransId="{381F4502-5BD6-4E15-9246-00142783FAC1}"/>
    <dgm:cxn modelId="{2EDE265C-95E3-4FE8-BB01-29C45965E0B1}" type="presOf" srcId="{098137ED-2C93-46A3-A686-CD2112C6E9F0}" destId="{A01BAB4A-9587-4CB3-B735-4A6826CFBDA2}" srcOrd="0" destOrd="1" presId="urn:microsoft.com/office/officeart/2005/8/layout/vList2"/>
    <dgm:cxn modelId="{A5C76EBC-2447-49A9-B7D5-DC9CD01DA423}" srcId="{8305392E-8A47-4926-800E-8090C4BCC93F}" destId="{58F8C2BF-06E5-4710-9984-D4890D7697D9}" srcOrd="0" destOrd="0" parTransId="{E881C9C7-3155-424E-86A7-EA1F195A9468}" sibTransId="{5CEEAF28-CE1C-4FB3-BEDA-1894898A1806}"/>
    <dgm:cxn modelId="{1E7F58C8-7284-401A-968A-3D4E115AED70}" type="presOf" srcId="{D2969C97-5FD6-4CD6-855D-617952EAE849}" destId="{D43CAECD-1138-4C7C-A644-BE5ACCE3EAC1}" srcOrd="0" destOrd="1" presId="urn:microsoft.com/office/officeart/2005/8/layout/vList2"/>
    <dgm:cxn modelId="{86404DFA-185F-4BDA-9D05-A3790DD36348}" type="presOf" srcId="{8305392E-8A47-4926-800E-8090C4BCC93F}" destId="{80A9C57A-C5DA-4101-B34A-93AA0549E520}" srcOrd="0" destOrd="0" presId="urn:microsoft.com/office/officeart/2005/8/layout/vList2"/>
    <dgm:cxn modelId="{1313796D-D195-407B-A0DC-C742872772D6}" type="presParOf" srcId="{5A2CAA9E-0300-4D5C-8DB7-93C53830373F}" destId="{547CC5C8-3922-44FB-9115-C20D33CDC874}" srcOrd="0" destOrd="0" presId="urn:microsoft.com/office/officeart/2005/8/layout/vList2"/>
    <dgm:cxn modelId="{15833B87-1545-44A9-B17F-9D9ADD1D9F03}" type="presParOf" srcId="{5A2CAA9E-0300-4D5C-8DB7-93C53830373F}" destId="{D43CAECD-1138-4C7C-A644-BE5ACCE3EAC1}" srcOrd="1" destOrd="0" presId="urn:microsoft.com/office/officeart/2005/8/layout/vList2"/>
    <dgm:cxn modelId="{0A4F294D-89C3-4211-8584-4BF1AC1FEE2B}" type="presParOf" srcId="{5A2CAA9E-0300-4D5C-8DB7-93C53830373F}" destId="{80A9C57A-C5DA-4101-B34A-93AA0549E520}" srcOrd="2" destOrd="0" presId="urn:microsoft.com/office/officeart/2005/8/layout/vList2"/>
    <dgm:cxn modelId="{E36614CA-B5A8-49EE-A427-EED6DF3330A3}" type="presParOf" srcId="{5A2CAA9E-0300-4D5C-8DB7-93C53830373F}" destId="{A01BAB4A-9587-4CB3-B735-4A6826CFBDA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18E507-72C7-49C5-9041-6BA86F4B674A}" type="doc">
      <dgm:prSet loTypeId="urn:microsoft.com/office/officeart/2005/8/layout/gear1" loCatId="process" qsTypeId="urn:microsoft.com/office/officeart/2005/8/quickstyle/3d3" qsCatId="3D" csTypeId="urn:microsoft.com/office/officeart/2005/8/colors/colorful5" csCatId="colorful" phldr="1"/>
      <dgm:spPr/>
    </dgm:pt>
    <dgm:pt modelId="{E5F4D4F9-220B-417E-9449-21C73249DD52}">
      <dgm:prSet phldrT="[文字]" custT="1"/>
      <dgm:spPr/>
      <dgm:t>
        <a:bodyPr/>
        <a:lstStyle/>
        <a:p>
          <a:r>
            <a:rPr lang="zh-TW" altLang="en-US" sz="2800" b="1" dirty="0" smtClean="0">
              <a:solidFill>
                <a:schemeClr val="accent1">
                  <a:lumMod val="50000"/>
                </a:schemeClr>
              </a:solidFill>
            </a:rPr>
            <a:t>行政院諮詢小組</a:t>
          </a:r>
          <a:endParaRPr lang="zh-TW" altLang="en-US" sz="2800" b="1" dirty="0">
            <a:solidFill>
              <a:schemeClr val="accent1">
                <a:lumMod val="50000"/>
              </a:schemeClr>
            </a:solidFill>
          </a:endParaRPr>
        </a:p>
      </dgm:t>
    </dgm:pt>
    <dgm:pt modelId="{8C2A74A1-5A3C-487B-BB50-5C9F58F0D142}" type="parTrans" cxnId="{AFC6AD84-CAF5-4CCA-BAC3-E2D12FEDF7E5}">
      <dgm:prSet/>
      <dgm:spPr/>
      <dgm:t>
        <a:bodyPr/>
        <a:lstStyle/>
        <a:p>
          <a:endParaRPr lang="zh-TW" altLang="en-US"/>
        </a:p>
      </dgm:t>
    </dgm:pt>
    <dgm:pt modelId="{CEC4ACE5-5E6F-45CE-B21C-54EA96ADC5FE}" type="sibTrans" cxnId="{AFC6AD84-CAF5-4CCA-BAC3-E2D12FEDF7E5}">
      <dgm:prSet/>
      <dgm:spPr/>
      <dgm:t>
        <a:bodyPr/>
        <a:lstStyle/>
        <a:p>
          <a:endParaRPr lang="zh-TW" altLang="en-US"/>
        </a:p>
      </dgm:t>
    </dgm:pt>
    <dgm:pt modelId="{64CDEF77-2C45-424E-96F5-084710F9E72C}">
      <dgm:prSet phldrT="[文字]"/>
      <dgm:spPr/>
      <dgm:t>
        <a:bodyPr/>
        <a:lstStyle/>
        <a:p>
          <a:r>
            <a:rPr lang="zh-TW" altLang="en-US" dirty="0" smtClean="0"/>
            <a:t>本會資訊業務推動</a:t>
          </a:r>
          <a:r>
            <a:rPr lang="en-US" altLang="zh-TW" dirty="0" smtClean="0"/>
            <a:t>(</a:t>
          </a:r>
          <a:r>
            <a:rPr lang="zh-TW" altLang="en-US" dirty="0" smtClean="0"/>
            <a:t>工作</a:t>
          </a:r>
          <a:r>
            <a:rPr lang="en-US" altLang="zh-TW" dirty="0" smtClean="0"/>
            <a:t>)</a:t>
          </a:r>
          <a:r>
            <a:rPr lang="zh-TW" altLang="en-US" dirty="0" smtClean="0"/>
            <a:t>小組</a:t>
          </a:r>
          <a:endParaRPr lang="zh-TW" altLang="en-US" dirty="0"/>
        </a:p>
      </dgm:t>
    </dgm:pt>
    <dgm:pt modelId="{9225F8BB-C6E3-4F61-A3CB-3795C9C12367}" type="parTrans" cxnId="{FD8F8F0B-0705-4C1B-9CBA-14171A7D4D96}">
      <dgm:prSet/>
      <dgm:spPr/>
      <dgm:t>
        <a:bodyPr/>
        <a:lstStyle/>
        <a:p>
          <a:endParaRPr lang="zh-TW" altLang="en-US"/>
        </a:p>
      </dgm:t>
    </dgm:pt>
    <dgm:pt modelId="{457EA4BC-4403-4539-A799-9824C5818ACD}" type="sibTrans" cxnId="{FD8F8F0B-0705-4C1B-9CBA-14171A7D4D96}">
      <dgm:prSet/>
      <dgm:spPr/>
      <dgm:t>
        <a:bodyPr/>
        <a:lstStyle/>
        <a:p>
          <a:endParaRPr lang="zh-TW" altLang="en-US"/>
        </a:p>
      </dgm:t>
    </dgm:pt>
    <dgm:pt modelId="{54D0CD2F-27D3-4E6B-9E8C-12EF18E49599}">
      <dgm:prSet phldrT="[文字]" custT="1"/>
      <dgm:spPr/>
      <dgm:t>
        <a:bodyPr/>
        <a:lstStyle/>
        <a:p>
          <a:r>
            <a:rPr lang="zh-TW" altLang="en-US" sz="2400" b="1" dirty="0" smtClean="0">
              <a:solidFill>
                <a:schemeClr val="accent4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本會諮詢小組</a:t>
          </a:r>
          <a:endParaRPr lang="zh-TW" altLang="en-US" sz="2400" b="1" dirty="0">
            <a:solidFill>
              <a:schemeClr val="accent4">
                <a:lumMod val="95000"/>
                <a:lumOff val="5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D5A9FD-D654-4456-BDC5-1ABCAFD83898}" type="parTrans" cxnId="{4D84D4EC-DAB8-4495-84D0-3D4B8D475C7A}">
      <dgm:prSet/>
      <dgm:spPr/>
      <dgm:t>
        <a:bodyPr/>
        <a:lstStyle/>
        <a:p>
          <a:endParaRPr lang="zh-TW" altLang="en-US"/>
        </a:p>
      </dgm:t>
    </dgm:pt>
    <dgm:pt modelId="{68A3D073-5610-4464-9759-FBA71AC1D0A3}" type="sibTrans" cxnId="{4D84D4EC-DAB8-4495-84D0-3D4B8D475C7A}">
      <dgm:prSet/>
      <dgm:spPr/>
      <dgm:t>
        <a:bodyPr/>
        <a:lstStyle/>
        <a:p>
          <a:endParaRPr lang="zh-TW" altLang="en-US"/>
        </a:p>
      </dgm:t>
    </dgm:pt>
    <dgm:pt modelId="{9211EE07-1FE8-457B-A05C-5AFE7A3A3A82}" type="pres">
      <dgm:prSet presAssocID="{F218E507-72C7-49C5-9041-6BA86F4B674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9C3FD2B-7928-4C59-82BA-B0B7F83A4D15}" type="pres">
      <dgm:prSet presAssocID="{E5F4D4F9-220B-417E-9449-21C73249DD52}" presName="gear1" presStyleLbl="node1" presStyleIdx="0" presStyleCnt="3" custLinFactNeighborX="6396" custLinFactNeighborY="-65814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B184610-F71B-49D6-B1B7-DC8352780C99}" type="pres">
      <dgm:prSet presAssocID="{E5F4D4F9-220B-417E-9449-21C73249DD52}" presName="gear1srcNode" presStyleLbl="node1" presStyleIdx="0" presStyleCnt="3"/>
      <dgm:spPr/>
      <dgm:t>
        <a:bodyPr/>
        <a:lstStyle/>
        <a:p>
          <a:endParaRPr lang="zh-TW" altLang="en-US"/>
        </a:p>
      </dgm:t>
    </dgm:pt>
    <dgm:pt modelId="{94C6E760-C73F-40C0-BEB8-533726A87879}" type="pres">
      <dgm:prSet presAssocID="{E5F4D4F9-220B-417E-9449-21C73249DD52}" presName="gear1dstNode" presStyleLbl="node1" presStyleIdx="0" presStyleCnt="3"/>
      <dgm:spPr/>
      <dgm:t>
        <a:bodyPr/>
        <a:lstStyle/>
        <a:p>
          <a:endParaRPr lang="zh-TW" altLang="en-US"/>
        </a:p>
      </dgm:t>
    </dgm:pt>
    <dgm:pt modelId="{72D5E236-B17F-4B41-ACD2-194A35810C69}" type="pres">
      <dgm:prSet presAssocID="{54D0CD2F-27D3-4E6B-9E8C-12EF18E49599}" presName="gear2" presStyleLbl="node1" presStyleIdx="1" presStyleCnt="3" custScaleX="115129" custScaleY="110610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0C13E4D-2F71-4430-B006-CF0F32E12F94}" type="pres">
      <dgm:prSet presAssocID="{54D0CD2F-27D3-4E6B-9E8C-12EF18E49599}" presName="gear2srcNode" presStyleLbl="node1" presStyleIdx="1" presStyleCnt="3"/>
      <dgm:spPr/>
      <dgm:t>
        <a:bodyPr/>
        <a:lstStyle/>
        <a:p>
          <a:endParaRPr lang="zh-TW" altLang="en-US"/>
        </a:p>
      </dgm:t>
    </dgm:pt>
    <dgm:pt modelId="{44351012-28CF-4618-A44A-AD7589B64F12}" type="pres">
      <dgm:prSet presAssocID="{54D0CD2F-27D3-4E6B-9E8C-12EF18E49599}" presName="gear2dstNode" presStyleLbl="node1" presStyleIdx="1" presStyleCnt="3"/>
      <dgm:spPr/>
      <dgm:t>
        <a:bodyPr/>
        <a:lstStyle/>
        <a:p>
          <a:endParaRPr lang="zh-TW" altLang="en-US"/>
        </a:p>
      </dgm:t>
    </dgm:pt>
    <dgm:pt modelId="{F553F75B-F3F9-4D64-B5BF-297C890030CB}" type="pres">
      <dgm:prSet presAssocID="{64CDEF77-2C45-424E-96F5-084710F9E72C}" presName="gear3" presStyleLbl="node1" presStyleIdx="2" presStyleCnt="3" custLinFactY="10749" custLinFactNeighborX="21499" custLinFactNeighborY="100000"/>
      <dgm:spPr/>
      <dgm:t>
        <a:bodyPr/>
        <a:lstStyle/>
        <a:p>
          <a:endParaRPr lang="zh-TW" altLang="en-US"/>
        </a:p>
      </dgm:t>
    </dgm:pt>
    <dgm:pt modelId="{942B98CE-81F0-496A-897E-9F2B1F519E4F}" type="pres">
      <dgm:prSet presAssocID="{64CDEF77-2C45-424E-96F5-084710F9E72C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BB454B4-39B6-4CF6-BDCC-1EC4814D72AB}" type="pres">
      <dgm:prSet presAssocID="{64CDEF77-2C45-424E-96F5-084710F9E72C}" presName="gear3srcNode" presStyleLbl="node1" presStyleIdx="2" presStyleCnt="3"/>
      <dgm:spPr/>
      <dgm:t>
        <a:bodyPr/>
        <a:lstStyle/>
        <a:p>
          <a:endParaRPr lang="zh-TW" altLang="en-US"/>
        </a:p>
      </dgm:t>
    </dgm:pt>
    <dgm:pt modelId="{3B7A152E-B9B1-4AB8-8379-93E79306A470}" type="pres">
      <dgm:prSet presAssocID="{64CDEF77-2C45-424E-96F5-084710F9E72C}" presName="gear3dstNode" presStyleLbl="node1" presStyleIdx="2" presStyleCnt="3"/>
      <dgm:spPr/>
      <dgm:t>
        <a:bodyPr/>
        <a:lstStyle/>
        <a:p>
          <a:endParaRPr lang="zh-TW" altLang="en-US"/>
        </a:p>
      </dgm:t>
    </dgm:pt>
    <dgm:pt modelId="{C8FE5F14-F3E2-46D9-ACDF-23EFF62ED7D1}" type="pres">
      <dgm:prSet presAssocID="{CEC4ACE5-5E6F-45CE-B21C-54EA96ADC5FE}" presName="connector1" presStyleLbl="sibTrans2D1" presStyleIdx="0" presStyleCnt="3" custAng="1301268" custLinFactNeighborX="8025" custLinFactNeighborY="-52009"/>
      <dgm:spPr/>
      <dgm:t>
        <a:bodyPr/>
        <a:lstStyle/>
        <a:p>
          <a:endParaRPr lang="zh-TW" altLang="en-US"/>
        </a:p>
      </dgm:t>
    </dgm:pt>
    <dgm:pt modelId="{4969CC86-25D4-4AD7-A615-0730755214BD}" type="pres">
      <dgm:prSet presAssocID="{68A3D073-5610-4464-9759-FBA71AC1D0A3}" presName="connector2" presStyleLbl="sibTrans2D1" presStyleIdx="1" presStyleCnt="3" custAng="16736513" custFlipVert="1" custLinFactNeighborX="-3342" custLinFactNeighborY="-3674"/>
      <dgm:spPr/>
      <dgm:t>
        <a:bodyPr/>
        <a:lstStyle/>
        <a:p>
          <a:endParaRPr lang="zh-TW" altLang="en-US"/>
        </a:p>
      </dgm:t>
    </dgm:pt>
    <dgm:pt modelId="{5344E281-49CD-4F0D-9E2E-08B7762C7FD5}" type="pres">
      <dgm:prSet presAssocID="{457EA4BC-4403-4539-A799-9824C5818ACD}" presName="connector3" presStyleLbl="sibTrans2D1" presStyleIdx="2" presStyleCnt="3" custFlipVert="1" custLinFactNeighborX="18712" custLinFactNeighborY="96391"/>
      <dgm:spPr/>
      <dgm:t>
        <a:bodyPr/>
        <a:lstStyle/>
        <a:p>
          <a:endParaRPr lang="zh-TW" altLang="en-US"/>
        </a:p>
      </dgm:t>
    </dgm:pt>
  </dgm:ptLst>
  <dgm:cxnLst>
    <dgm:cxn modelId="{09A04E1B-8B42-49C3-90C1-AF5F6B4176DA}" type="presOf" srcId="{457EA4BC-4403-4539-A799-9824C5818ACD}" destId="{5344E281-49CD-4F0D-9E2E-08B7762C7FD5}" srcOrd="0" destOrd="0" presId="urn:microsoft.com/office/officeart/2005/8/layout/gear1"/>
    <dgm:cxn modelId="{C7D39B7A-BC83-47D9-8858-7120AC23A9CF}" type="presOf" srcId="{64CDEF77-2C45-424E-96F5-084710F9E72C}" destId="{F553F75B-F3F9-4D64-B5BF-297C890030CB}" srcOrd="0" destOrd="0" presId="urn:microsoft.com/office/officeart/2005/8/layout/gear1"/>
    <dgm:cxn modelId="{195122D7-5E4B-40E9-ABE7-E1E71656B941}" type="presOf" srcId="{F218E507-72C7-49C5-9041-6BA86F4B674A}" destId="{9211EE07-1FE8-457B-A05C-5AFE7A3A3A82}" srcOrd="0" destOrd="0" presId="urn:microsoft.com/office/officeart/2005/8/layout/gear1"/>
    <dgm:cxn modelId="{9301CCB0-AE69-4C94-98F5-0CE21952BD6F}" type="presOf" srcId="{E5F4D4F9-220B-417E-9449-21C73249DD52}" destId="{94C6E760-C73F-40C0-BEB8-533726A87879}" srcOrd="2" destOrd="0" presId="urn:microsoft.com/office/officeart/2005/8/layout/gear1"/>
    <dgm:cxn modelId="{E8A5B4A0-A02D-4243-A4CA-5344F7598DE8}" type="presOf" srcId="{54D0CD2F-27D3-4E6B-9E8C-12EF18E49599}" destId="{72D5E236-B17F-4B41-ACD2-194A35810C69}" srcOrd="0" destOrd="0" presId="urn:microsoft.com/office/officeart/2005/8/layout/gear1"/>
    <dgm:cxn modelId="{4D84D4EC-DAB8-4495-84D0-3D4B8D475C7A}" srcId="{F218E507-72C7-49C5-9041-6BA86F4B674A}" destId="{54D0CD2F-27D3-4E6B-9E8C-12EF18E49599}" srcOrd="1" destOrd="0" parTransId="{7DD5A9FD-D654-4456-BDC5-1ABCAFD83898}" sibTransId="{68A3D073-5610-4464-9759-FBA71AC1D0A3}"/>
    <dgm:cxn modelId="{3F3C56A1-9507-4B36-963F-AA34A180337A}" type="presOf" srcId="{E5F4D4F9-220B-417E-9449-21C73249DD52}" destId="{EB184610-F71B-49D6-B1B7-DC8352780C99}" srcOrd="1" destOrd="0" presId="urn:microsoft.com/office/officeart/2005/8/layout/gear1"/>
    <dgm:cxn modelId="{164625A9-8F77-4A26-94AF-458AC89F6028}" type="presOf" srcId="{54D0CD2F-27D3-4E6B-9E8C-12EF18E49599}" destId="{44351012-28CF-4618-A44A-AD7589B64F12}" srcOrd="2" destOrd="0" presId="urn:microsoft.com/office/officeart/2005/8/layout/gear1"/>
    <dgm:cxn modelId="{E5B894AE-B25D-4DDA-AEC2-CDF035AD3312}" type="presOf" srcId="{64CDEF77-2C45-424E-96F5-084710F9E72C}" destId="{942B98CE-81F0-496A-897E-9F2B1F519E4F}" srcOrd="1" destOrd="0" presId="urn:microsoft.com/office/officeart/2005/8/layout/gear1"/>
    <dgm:cxn modelId="{2584193F-E072-4C6B-82FE-0AC253802B35}" type="presOf" srcId="{E5F4D4F9-220B-417E-9449-21C73249DD52}" destId="{79C3FD2B-7928-4C59-82BA-B0B7F83A4D15}" srcOrd="0" destOrd="0" presId="urn:microsoft.com/office/officeart/2005/8/layout/gear1"/>
    <dgm:cxn modelId="{48BF6026-0913-418D-A4E5-7BB1A002F76E}" type="presOf" srcId="{64CDEF77-2C45-424E-96F5-084710F9E72C}" destId="{6BB454B4-39B6-4CF6-BDCC-1EC4814D72AB}" srcOrd="2" destOrd="0" presId="urn:microsoft.com/office/officeart/2005/8/layout/gear1"/>
    <dgm:cxn modelId="{9D7AC19D-9FC5-4371-AC2F-34B187E08005}" type="presOf" srcId="{54D0CD2F-27D3-4E6B-9E8C-12EF18E49599}" destId="{E0C13E4D-2F71-4430-B006-CF0F32E12F94}" srcOrd="1" destOrd="0" presId="urn:microsoft.com/office/officeart/2005/8/layout/gear1"/>
    <dgm:cxn modelId="{FD8F8F0B-0705-4C1B-9CBA-14171A7D4D96}" srcId="{F218E507-72C7-49C5-9041-6BA86F4B674A}" destId="{64CDEF77-2C45-424E-96F5-084710F9E72C}" srcOrd="2" destOrd="0" parTransId="{9225F8BB-C6E3-4F61-A3CB-3795C9C12367}" sibTransId="{457EA4BC-4403-4539-A799-9824C5818ACD}"/>
    <dgm:cxn modelId="{328673D8-1489-4319-9BA3-46678B6EA588}" type="presOf" srcId="{CEC4ACE5-5E6F-45CE-B21C-54EA96ADC5FE}" destId="{C8FE5F14-F3E2-46D9-ACDF-23EFF62ED7D1}" srcOrd="0" destOrd="0" presId="urn:microsoft.com/office/officeart/2005/8/layout/gear1"/>
    <dgm:cxn modelId="{C00BA6E3-B787-466D-B4A8-162C6BBC0D2E}" type="presOf" srcId="{64CDEF77-2C45-424E-96F5-084710F9E72C}" destId="{3B7A152E-B9B1-4AB8-8379-93E79306A470}" srcOrd="3" destOrd="0" presId="urn:microsoft.com/office/officeart/2005/8/layout/gear1"/>
    <dgm:cxn modelId="{AFC6AD84-CAF5-4CCA-BAC3-E2D12FEDF7E5}" srcId="{F218E507-72C7-49C5-9041-6BA86F4B674A}" destId="{E5F4D4F9-220B-417E-9449-21C73249DD52}" srcOrd="0" destOrd="0" parTransId="{8C2A74A1-5A3C-487B-BB50-5C9F58F0D142}" sibTransId="{CEC4ACE5-5E6F-45CE-B21C-54EA96ADC5FE}"/>
    <dgm:cxn modelId="{ACC3FC43-7C63-42C3-8842-6B6BE7E4D7D3}" type="presOf" srcId="{68A3D073-5610-4464-9759-FBA71AC1D0A3}" destId="{4969CC86-25D4-4AD7-A615-0730755214BD}" srcOrd="0" destOrd="0" presId="urn:microsoft.com/office/officeart/2005/8/layout/gear1"/>
    <dgm:cxn modelId="{253940D8-E042-4118-9026-0F2D25604DDF}" type="presParOf" srcId="{9211EE07-1FE8-457B-A05C-5AFE7A3A3A82}" destId="{79C3FD2B-7928-4C59-82BA-B0B7F83A4D15}" srcOrd="0" destOrd="0" presId="urn:microsoft.com/office/officeart/2005/8/layout/gear1"/>
    <dgm:cxn modelId="{5908979A-6187-4CA1-B4C8-9B3CEDC00CD6}" type="presParOf" srcId="{9211EE07-1FE8-457B-A05C-5AFE7A3A3A82}" destId="{EB184610-F71B-49D6-B1B7-DC8352780C99}" srcOrd="1" destOrd="0" presId="urn:microsoft.com/office/officeart/2005/8/layout/gear1"/>
    <dgm:cxn modelId="{66B20830-D6F8-45C3-B94A-9640A2611C57}" type="presParOf" srcId="{9211EE07-1FE8-457B-A05C-5AFE7A3A3A82}" destId="{94C6E760-C73F-40C0-BEB8-533726A87879}" srcOrd="2" destOrd="0" presId="urn:microsoft.com/office/officeart/2005/8/layout/gear1"/>
    <dgm:cxn modelId="{7FA9DDD3-E8A4-447C-8306-3D544BB3E026}" type="presParOf" srcId="{9211EE07-1FE8-457B-A05C-5AFE7A3A3A82}" destId="{72D5E236-B17F-4B41-ACD2-194A35810C69}" srcOrd="3" destOrd="0" presId="urn:microsoft.com/office/officeart/2005/8/layout/gear1"/>
    <dgm:cxn modelId="{57BB7934-A16D-41B3-BF22-4E0E31760375}" type="presParOf" srcId="{9211EE07-1FE8-457B-A05C-5AFE7A3A3A82}" destId="{E0C13E4D-2F71-4430-B006-CF0F32E12F94}" srcOrd="4" destOrd="0" presId="urn:microsoft.com/office/officeart/2005/8/layout/gear1"/>
    <dgm:cxn modelId="{D5FE0029-28F7-476A-AC99-0FA6B5FC127B}" type="presParOf" srcId="{9211EE07-1FE8-457B-A05C-5AFE7A3A3A82}" destId="{44351012-28CF-4618-A44A-AD7589B64F12}" srcOrd="5" destOrd="0" presId="urn:microsoft.com/office/officeart/2005/8/layout/gear1"/>
    <dgm:cxn modelId="{197F2A50-2144-4847-A7B0-DD434F07629D}" type="presParOf" srcId="{9211EE07-1FE8-457B-A05C-5AFE7A3A3A82}" destId="{F553F75B-F3F9-4D64-B5BF-297C890030CB}" srcOrd="6" destOrd="0" presId="urn:microsoft.com/office/officeart/2005/8/layout/gear1"/>
    <dgm:cxn modelId="{BF49707B-9634-48B6-A5FD-04181338164B}" type="presParOf" srcId="{9211EE07-1FE8-457B-A05C-5AFE7A3A3A82}" destId="{942B98CE-81F0-496A-897E-9F2B1F519E4F}" srcOrd="7" destOrd="0" presId="urn:microsoft.com/office/officeart/2005/8/layout/gear1"/>
    <dgm:cxn modelId="{CD6CC0C4-0D24-49DD-8002-2663433391E6}" type="presParOf" srcId="{9211EE07-1FE8-457B-A05C-5AFE7A3A3A82}" destId="{6BB454B4-39B6-4CF6-BDCC-1EC4814D72AB}" srcOrd="8" destOrd="0" presId="urn:microsoft.com/office/officeart/2005/8/layout/gear1"/>
    <dgm:cxn modelId="{C2D0FB1C-2F5E-453C-B171-DB0B86D13033}" type="presParOf" srcId="{9211EE07-1FE8-457B-A05C-5AFE7A3A3A82}" destId="{3B7A152E-B9B1-4AB8-8379-93E79306A470}" srcOrd="9" destOrd="0" presId="urn:microsoft.com/office/officeart/2005/8/layout/gear1"/>
    <dgm:cxn modelId="{9E07562A-A3A1-448E-822B-91D76214410E}" type="presParOf" srcId="{9211EE07-1FE8-457B-A05C-5AFE7A3A3A82}" destId="{C8FE5F14-F3E2-46D9-ACDF-23EFF62ED7D1}" srcOrd="10" destOrd="0" presId="urn:microsoft.com/office/officeart/2005/8/layout/gear1"/>
    <dgm:cxn modelId="{A42BDC8F-0D6A-496A-AAB9-7DF290F31645}" type="presParOf" srcId="{9211EE07-1FE8-457B-A05C-5AFE7A3A3A82}" destId="{4969CC86-25D4-4AD7-A615-0730755214BD}" srcOrd="11" destOrd="0" presId="urn:microsoft.com/office/officeart/2005/8/layout/gear1"/>
    <dgm:cxn modelId="{A7FA2F58-F159-45A7-8DBA-729DD0B84AC3}" type="presParOf" srcId="{9211EE07-1FE8-457B-A05C-5AFE7A3A3A82}" destId="{5344E281-49CD-4F0D-9E2E-08B7762C7FD5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A08B5F-51D2-43D0-BC6E-6F1FBBC69FDC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4CD50C8A-76DD-416B-AA81-27747CB79480}">
      <dgm:prSet phldrT="[文字]"/>
      <dgm:spPr>
        <a:solidFill>
          <a:srgbClr val="FFCCFF"/>
        </a:solidFill>
        <a:effectLst>
          <a:outerShdw blurRad="50800" dist="762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zh-TW" altLang="en-US" b="0" i="0" u="none" strike="noStrike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日期</a:t>
          </a:r>
          <a:endParaRPr lang="zh-TW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E742D7-222D-45BB-86AF-8733515366CD}" type="parTrans" cxnId="{04DF95C5-C84C-4C68-82C6-A4C9B587918A}">
      <dgm:prSet/>
      <dgm:spPr/>
      <dgm:t>
        <a:bodyPr/>
        <a:lstStyle/>
        <a:p>
          <a:endParaRPr lang="zh-TW" altLang="en-US"/>
        </a:p>
      </dgm:t>
    </dgm:pt>
    <dgm:pt modelId="{7F9214EC-0FCD-4C94-B1CA-788B8BA92450}" type="sibTrans" cxnId="{04DF95C5-C84C-4C68-82C6-A4C9B587918A}">
      <dgm:prSet/>
      <dgm:spPr/>
      <dgm:t>
        <a:bodyPr/>
        <a:lstStyle/>
        <a:p>
          <a:endParaRPr lang="zh-TW" altLang="en-US"/>
        </a:p>
      </dgm:t>
    </dgm:pt>
    <dgm:pt modelId="{3CE03EF0-77C8-4C3E-909A-225EA22996DA}">
      <dgm:prSet phldrT="[文字]"/>
      <dgm:spPr>
        <a:solidFill>
          <a:srgbClr val="FFFFCC"/>
        </a:solidFill>
        <a:effectLst>
          <a:outerShdw blurRad="50800" dist="762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zh-TW" altLang="en-US" b="0" i="0" u="none" strike="noStrike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對象</a:t>
          </a:r>
          <a:endParaRPr lang="zh-TW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F9AA823-5008-4278-B584-F5EA1F658610}" type="parTrans" cxnId="{3C5C31E4-672E-4025-8612-88B31E5CC7D9}">
      <dgm:prSet/>
      <dgm:spPr/>
      <dgm:t>
        <a:bodyPr/>
        <a:lstStyle/>
        <a:p>
          <a:endParaRPr lang="zh-TW" altLang="en-US"/>
        </a:p>
      </dgm:t>
    </dgm:pt>
    <dgm:pt modelId="{8F304602-8BB2-4018-93A3-CAB82279EDCC}" type="sibTrans" cxnId="{3C5C31E4-672E-4025-8612-88B31E5CC7D9}">
      <dgm:prSet/>
      <dgm:spPr/>
      <dgm:t>
        <a:bodyPr/>
        <a:lstStyle/>
        <a:p>
          <a:endParaRPr lang="zh-TW" altLang="en-US"/>
        </a:p>
      </dgm:t>
    </dgm:pt>
    <dgm:pt modelId="{F4842F5C-61FC-4506-AAC1-23EBDE5A1372}">
      <dgm:prSet phldrT="[文字]"/>
      <dgm:spPr>
        <a:solidFill>
          <a:srgbClr val="CCFF99"/>
        </a:solidFill>
        <a:effectLst>
          <a:outerShdw blurRad="50800" dist="762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zh-TW" altLang="en-US" b="0" i="0" u="none" strike="noStrike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內容</a:t>
          </a:r>
          <a:endParaRPr lang="zh-TW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C9B1F1D-BEBE-450C-A3E6-012184A4B6A3}" type="parTrans" cxnId="{B8353850-8C2C-4315-BCBA-BCAE190AA6E1}">
      <dgm:prSet/>
      <dgm:spPr/>
      <dgm:t>
        <a:bodyPr/>
        <a:lstStyle/>
        <a:p>
          <a:endParaRPr lang="zh-TW" altLang="en-US"/>
        </a:p>
      </dgm:t>
    </dgm:pt>
    <dgm:pt modelId="{FA98D6C7-F512-4F4C-89E4-DB5E577C8242}" type="sibTrans" cxnId="{B8353850-8C2C-4315-BCBA-BCAE190AA6E1}">
      <dgm:prSet/>
      <dgm:spPr/>
      <dgm:t>
        <a:bodyPr/>
        <a:lstStyle/>
        <a:p>
          <a:endParaRPr lang="zh-TW" altLang="en-US"/>
        </a:p>
      </dgm:t>
    </dgm:pt>
    <dgm:pt modelId="{578F6248-1839-4E19-A872-9AD28D06281F}">
      <dgm:prSet phldrT="[文字]"/>
      <dgm:spPr>
        <a:solidFill>
          <a:srgbClr val="00B0F0"/>
        </a:solidFill>
        <a:effectLst>
          <a:outerShdw blurRad="50800" dist="762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zh-TW" altLang="en-US" b="0" i="0" u="none" strike="noStrike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效益</a:t>
          </a:r>
          <a:endParaRPr lang="zh-TW" altLang="en-US" b="0" i="0" u="none" strike="noStrike" dirty="0">
            <a:solidFill>
              <a:srgbClr val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08C8202-8ABA-465B-881D-3E11E9192BC7}" type="parTrans" cxnId="{57C19B2E-F5E6-46AB-A257-579931EA3116}">
      <dgm:prSet/>
      <dgm:spPr/>
      <dgm:t>
        <a:bodyPr/>
        <a:lstStyle/>
        <a:p>
          <a:endParaRPr lang="zh-TW" altLang="en-US"/>
        </a:p>
      </dgm:t>
    </dgm:pt>
    <dgm:pt modelId="{647A68FF-50D2-4A1C-A238-7F7D6B54875F}" type="sibTrans" cxnId="{57C19B2E-F5E6-46AB-A257-579931EA3116}">
      <dgm:prSet/>
      <dgm:spPr/>
      <dgm:t>
        <a:bodyPr/>
        <a:lstStyle/>
        <a:p>
          <a:endParaRPr lang="zh-TW" altLang="en-US"/>
        </a:p>
      </dgm:t>
    </dgm:pt>
    <dgm:pt modelId="{082FB6E0-ABF0-48BA-A486-8CD2D57E5AD8}" type="pres">
      <dgm:prSet presAssocID="{F0A08B5F-51D2-43D0-BC6E-6F1FBBC69FDC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4AD80ED9-ADF2-4ED3-8E05-B9DA45E06A3C}" type="pres">
      <dgm:prSet presAssocID="{F0A08B5F-51D2-43D0-BC6E-6F1FBBC69FDC}" presName="cycle" presStyleCnt="0"/>
      <dgm:spPr/>
    </dgm:pt>
    <dgm:pt modelId="{3B370337-ECD4-4BA4-BD2A-09154A8A114B}" type="pres">
      <dgm:prSet presAssocID="{F0A08B5F-51D2-43D0-BC6E-6F1FBBC69FDC}" presName="centerShape" presStyleCnt="0"/>
      <dgm:spPr/>
    </dgm:pt>
    <dgm:pt modelId="{8B909F87-B425-400E-8A24-79A406502595}" type="pres">
      <dgm:prSet presAssocID="{F0A08B5F-51D2-43D0-BC6E-6F1FBBC69FDC}" presName="connSite" presStyleLbl="node1" presStyleIdx="0" presStyleCnt="5"/>
      <dgm:spPr/>
    </dgm:pt>
    <dgm:pt modelId="{D6596685-E19F-48BC-A39A-A5B80F2DBF07}" type="pres">
      <dgm:prSet presAssocID="{F0A08B5F-51D2-43D0-BC6E-6F1FBBC69FDC}" presName="visible" presStyleLbl="node1" presStyleIdx="0" presStyleCnt="5" custScaleX="152606" custScaleY="130401" custLinFactNeighborX="-28956" custLinFactNeighborY="17435"/>
      <dgm:spPr>
        <a:blipFill rotWithShape="1">
          <a:blip xmlns:r="http://schemas.openxmlformats.org/officeDocument/2006/relationships" r:embed="rId1"/>
          <a:stretch>
            <a:fillRect/>
          </a:stretch>
        </a:blip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endParaRPr lang="zh-TW" altLang="en-US"/>
        </a:p>
      </dgm:t>
    </dgm:pt>
    <dgm:pt modelId="{A14548EE-1FC1-47F6-98D9-8D5B972AF98D}" type="pres">
      <dgm:prSet presAssocID="{87E742D7-222D-45BB-86AF-8733515366CD}" presName="Name25" presStyleLbl="parChTrans1D1" presStyleIdx="0" presStyleCnt="4"/>
      <dgm:spPr/>
      <dgm:t>
        <a:bodyPr/>
        <a:lstStyle/>
        <a:p>
          <a:endParaRPr lang="zh-TW" altLang="en-US"/>
        </a:p>
      </dgm:t>
    </dgm:pt>
    <dgm:pt modelId="{47755B66-8EDF-4F07-8397-8B707DCC237F}" type="pres">
      <dgm:prSet presAssocID="{4CD50C8A-76DD-416B-AA81-27747CB79480}" presName="node" presStyleCnt="0"/>
      <dgm:spPr/>
    </dgm:pt>
    <dgm:pt modelId="{787241C1-68A7-4B06-B914-57119C6BFE4B}" type="pres">
      <dgm:prSet presAssocID="{4CD50C8A-76DD-416B-AA81-27747CB79480}" presName="parentNode" presStyleLbl="node1" presStyleIdx="1" presStyleCnt="5" custScaleX="109845" custLinFactNeighborX="-61827" custLinFactNeighborY="19182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577F73E-0C2B-4B44-92D3-0F2F92926A19}" type="pres">
      <dgm:prSet presAssocID="{4CD50C8A-76DD-416B-AA81-27747CB79480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463B7EF-C9A0-4CDB-9A9B-7F047D9DA680}" type="pres">
      <dgm:prSet presAssocID="{2F9AA823-5008-4278-B584-F5EA1F658610}" presName="Name25" presStyleLbl="parChTrans1D1" presStyleIdx="1" presStyleCnt="4"/>
      <dgm:spPr/>
      <dgm:t>
        <a:bodyPr/>
        <a:lstStyle/>
        <a:p>
          <a:endParaRPr lang="zh-TW" altLang="en-US"/>
        </a:p>
      </dgm:t>
    </dgm:pt>
    <dgm:pt modelId="{528C6CE2-5C16-4CB7-92DB-DFA681B53F55}" type="pres">
      <dgm:prSet presAssocID="{3CE03EF0-77C8-4C3E-909A-225EA22996DA}" presName="node" presStyleCnt="0"/>
      <dgm:spPr/>
    </dgm:pt>
    <dgm:pt modelId="{486E94E3-A385-42B2-9002-AEDE772D687C}" type="pres">
      <dgm:prSet presAssocID="{3CE03EF0-77C8-4C3E-909A-225EA22996DA}" presName="parentNode" presStyleLbl="node1" presStyleIdx="2" presStyleCnt="5" custScaleX="108453" custLinFactNeighborX="-29175" custLinFactNeighborY="-4512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F4FFE41-70FC-414F-82FF-A9047C1DF1D4}" type="pres">
      <dgm:prSet presAssocID="{3CE03EF0-77C8-4C3E-909A-225EA22996DA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24B3B34-6589-4E9D-8023-EE2117DED28E}" type="pres">
      <dgm:prSet presAssocID="{5C9B1F1D-BEBE-450C-A3E6-012184A4B6A3}" presName="Name25" presStyleLbl="parChTrans1D1" presStyleIdx="2" presStyleCnt="4"/>
      <dgm:spPr/>
      <dgm:t>
        <a:bodyPr/>
        <a:lstStyle/>
        <a:p>
          <a:endParaRPr lang="zh-TW" altLang="en-US"/>
        </a:p>
      </dgm:t>
    </dgm:pt>
    <dgm:pt modelId="{DAF13B36-3F01-4250-B584-F508EE75C3CB}" type="pres">
      <dgm:prSet presAssocID="{F4842F5C-61FC-4506-AAC1-23EBDE5A1372}" presName="node" presStyleCnt="0"/>
      <dgm:spPr/>
    </dgm:pt>
    <dgm:pt modelId="{71A97E10-071F-446B-B925-47766F1C077A}" type="pres">
      <dgm:prSet presAssocID="{F4842F5C-61FC-4506-AAC1-23EBDE5A1372}" presName="parentNode" presStyleLbl="node1" presStyleIdx="3" presStyleCnt="5" custScaleX="106260" custLinFactNeighborX="23854" custLinFactNeighborY="-32362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C3AF570-7BB5-42C6-9449-5F62473C38DE}" type="pres">
      <dgm:prSet presAssocID="{F4842F5C-61FC-4506-AAC1-23EBDE5A1372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2028541-1213-4591-8EEC-55DCFEA04F0C}" type="pres">
      <dgm:prSet presAssocID="{508C8202-8ABA-465B-881D-3E11E9192BC7}" presName="Name25" presStyleLbl="parChTrans1D1" presStyleIdx="3" presStyleCnt="4"/>
      <dgm:spPr/>
      <dgm:t>
        <a:bodyPr/>
        <a:lstStyle/>
        <a:p>
          <a:endParaRPr lang="zh-TW" altLang="en-US"/>
        </a:p>
      </dgm:t>
    </dgm:pt>
    <dgm:pt modelId="{C7140F10-C516-4E9C-A4DD-4946F22D4730}" type="pres">
      <dgm:prSet presAssocID="{578F6248-1839-4E19-A872-9AD28D06281F}" presName="node" presStyleCnt="0"/>
      <dgm:spPr/>
    </dgm:pt>
    <dgm:pt modelId="{76A7F7D2-3CA3-419B-A7F5-7DA5200302C6}" type="pres">
      <dgm:prSet presAssocID="{578F6248-1839-4E19-A872-9AD28D06281F}" presName="parentNode" presStyleLbl="node1" presStyleIdx="4" presStyleCnt="5" custScaleX="121420" custLinFactX="1950" custLinFactNeighborX="100000" custLinFactNeighborY="-25427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845E257-9A78-4781-9B4C-05423B343CEE}" type="pres">
      <dgm:prSet presAssocID="{578F6248-1839-4E19-A872-9AD28D06281F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B8353850-8C2C-4315-BCBA-BCAE190AA6E1}" srcId="{F0A08B5F-51D2-43D0-BC6E-6F1FBBC69FDC}" destId="{F4842F5C-61FC-4506-AAC1-23EBDE5A1372}" srcOrd="2" destOrd="0" parTransId="{5C9B1F1D-BEBE-450C-A3E6-012184A4B6A3}" sibTransId="{FA98D6C7-F512-4F4C-89E4-DB5E577C8242}"/>
    <dgm:cxn modelId="{04DF95C5-C84C-4C68-82C6-A4C9B587918A}" srcId="{F0A08B5F-51D2-43D0-BC6E-6F1FBBC69FDC}" destId="{4CD50C8A-76DD-416B-AA81-27747CB79480}" srcOrd="0" destOrd="0" parTransId="{87E742D7-222D-45BB-86AF-8733515366CD}" sibTransId="{7F9214EC-0FCD-4C94-B1CA-788B8BA92450}"/>
    <dgm:cxn modelId="{25A7A531-129E-41F1-898B-9CEB32F3DD91}" type="presOf" srcId="{F0A08B5F-51D2-43D0-BC6E-6F1FBBC69FDC}" destId="{082FB6E0-ABF0-48BA-A486-8CD2D57E5AD8}" srcOrd="0" destOrd="0" presId="urn:microsoft.com/office/officeart/2005/8/layout/radial2"/>
    <dgm:cxn modelId="{56E0CCEC-4293-481F-8CD3-EBB79C96E186}" type="presOf" srcId="{2F9AA823-5008-4278-B584-F5EA1F658610}" destId="{A463B7EF-C9A0-4CDB-9A9B-7F047D9DA680}" srcOrd="0" destOrd="0" presId="urn:microsoft.com/office/officeart/2005/8/layout/radial2"/>
    <dgm:cxn modelId="{3C5C31E4-672E-4025-8612-88B31E5CC7D9}" srcId="{F0A08B5F-51D2-43D0-BC6E-6F1FBBC69FDC}" destId="{3CE03EF0-77C8-4C3E-909A-225EA22996DA}" srcOrd="1" destOrd="0" parTransId="{2F9AA823-5008-4278-B584-F5EA1F658610}" sibTransId="{8F304602-8BB2-4018-93A3-CAB82279EDCC}"/>
    <dgm:cxn modelId="{50AE391D-215C-45A3-960D-E9B9BEDA936D}" type="presOf" srcId="{87E742D7-222D-45BB-86AF-8733515366CD}" destId="{A14548EE-1FC1-47F6-98D9-8D5B972AF98D}" srcOrd="0" destOrd="0" presId="urn:microsoft.com/office/officeart/2005/8/layout/radial2"/>
    <dgm:cxn modelId="{97A3BBA4-4071-41E3-BA6C-DC0B4D604AAB}" type="presOf" srcId="{3CE03EF0-77C8-4C3E-909A-225EA22996DA}" destId="{486E94E3-A385-42B2-9002-AEDE772D687C}" srcOrd="0" destOrd="0" presId="urn:microsoft.com/office/officeart/2005/8/layout/radial2"/>
    <dgm:cxn modelId="{05E3202D-43E2-4D66-B91E-6A02E6916665}" type="presOf" srcId="{508C8202-8ABA-465B-881D-3E11E9192BC7}" destId="{F2028541-1213-4591-8EEC-55DCFEA04F0C}" srcOrd="0" destOrd="0" presId="urn:microsoft.com/office/officeart/2005/8/layout/radial2"/>
    <dgm:cxn modelId="{9F6C2A57-27E9-4BB7-BA0E-7D6C92EFBF6C}" type="presOf" srcId="{4CD50C8A-76DD-416B-AA81-27747CB79480}" destId="{787241C1-68A7-4B06-B914-57119C6BFE4B}" srcOrd="0" destOrd="0" presId="urn:microsoft.com/office/officeart/2005/8/layout/radial2"/>
    <dgm:cxn modelId="{98191D6B-3374-4EC7-8B32-5186FB32088F}" type="presOf" srcId="{578F6248-1839-4E19-A872-9AD28D06281F}" destId="{76A7F7D2-3CA3-419B-A7F5-7DA5200302C6}" srcOrd="0" destOrd="0" presId="urn:microsoft.com/office/officeart/2005/8/layout/radial2"/>
    <dgm:cxn modelId="{C6C86736-B9AD-4F89-B815-1207DBB8C62B}" type="presOf" srcId="{F4842F5C-61FC-4506-AAC1-23EBDE5A1372}" destId="{71A97E10-071F-446B-B925-47766F1C077A}" srcOrd="0" destOrd="0" presId="urn:microsoft.com/office/officeart/2005/8/layout/radial2"/>
    <dgm:cxn modelId="{1F340BBE-8750-4281-AFBA-641AD1073B1E}" type="presOf" srcId="{5C9B1F1D-BEBE-450C-A3E6-012184A4B6A3}" destId="{D24B3B34-6589-4E9D-8023-EE2117DED28E}" srcOrd="0" destOrd="0" presId="urn:microsoft.com/office/officeart/2005/8/layout/radial2"/>
    <dgm:cxn modelId="{57C19B2E-F5E6-46AB-A257-579931EA3116}" srcId="{F0A08B5F-51D2-43D0-BC6E-6F1FBBC69FDC}" destId="{578F6248-1839-4E19-A872-9AD28D06281F}" srcOrd="3" destOrd="0" parTransId="{508C8202-8ABA-465B-881D-3E11E9192BC7}" sibTransId="{647A68FF-50D2-4A1C-A238-7F7D6B54875F}"/>
    <dgm:cxn modelId="{7ABC6E0B-CA75-4736-A2CE-1AD543340C03}" type="presParOf" srcId="{082FB6E0-ABF0-48BA-A486-8CD2D57E5AD8}" destId="{4AD80ED9-ADF2-4ED3-8E05-B9DA45E06A3C}" srcOrd="0" destOrd="0" presId="urn:microsoft.com/office/officeart/2005/8/layout/radial2"/>
    <dgm:cxn modelId="{8D12C74F-1831-4CB2-AC5A-296F9548AB06}" type="presParOf" srcId="{4AD80ED9-ADF2-4ED3-8E05-B9DA45E06A3C}" destId="{3B370337-ECD4-4BA4-BD2A-09154A8A114B}" srcOrd="0" destOrd="0" presId="urn:microsoft.com/office/officeart/2005/8/layout/radial2"/>
    <dgm:cxn modelId="{2370277A-97E7-42AF-963B-79EB4A2CCA41}" type="presParOf" srcId="{3B370337-ECD4-4BA4-BD2A-09154A8A114B}" destId="{8B909F87-B425-400E-8A24-79A406502595}" srcOrd="0" destOrd="0" presId="urn:microsoft.com/office/officeart/2005/8/layout/radial2"/>
    <dgm:cxn modelId="{BBA41D30-728D-4A98-890A-5E22B62F6524}" type="presParOf" srcId="{3B370337-ECD4-4BA4-BD2A-09154A8A114B}" destId="{D6596685-E19F-48BC-A39A-A5B80F2DBF07}" srcOrd="1" destOrd="0" presId="urn:microsoft.com/office/officeart/2005/8/layout/radial2"/>
    <dgm:cxn modelId="{2F25ADB1-A6A0-4B90-ABBB-C347DB7292BF}" type="presParOf" srcId="{4AD80ED9-ADF2-4ED3-8E05-B9DA45E06A3C}" destId="{A14548EE-1FC1-47F6-98D9-8D5B972AF98D}" srcOrd="1" destOrd="0" presId="urn:microsoft.com/office/officeart/2005/8/layout/radial2"/>
    <dgm:cxn modelId="{F8F4B62E-E2B6-4EFC-9D0D-FC0C52664065}" type="presParOf" srcId="{4AD80ED9-ADF2-4ED3-8E05-B9DA45E06A3C}" destId="{47755B66-8EDF-4F07-8397-8B707DCC237F}" srcOrd="2" destOrd="0" presId="urn:microsoft.com/office/officeart/2005/8/layout/radial2"/>
    <dgm:cxn modelId="{BD0FC983-EFC7-427C-BCAC-26557C8682D9}" type="presParOf" srcId="{47755B66-8EDF-4F07-8397-8B707DCC237F}" destId="{787241C1-68A7-4B06-B914-57119C6BFE4B}" srcOrd="0" destOrd="0" presId="urn:microsoft.com/office/officeart/2005/8/layout/radial2"/>
    <dgm:cxn modelId="{8C5F61DF-0912-44DE-893D-E2BFFF27A52F}" type="presParOf" srcId="{47755B66-8EDF-4F07-8397-8B707DCC237F}" destId="{5577F73E-0C2B-4B44-92D3-0F2F92926A19}" srcOrd="1" destOrd="0" presId="urn:microsoft.com/office/officeart/2005/8/layout/radial2"/>
    <dgm:cxn modelId="{983F9756-54A5-44C6-8C1D-B82494679057}" type="presParOf" srcId="{4AD80ED9-ADF2-4ED3-8E05-B9DA45E06A3C}" destId="{A463B7EF-C9A0-4CDB-9A9B-7F047D9DA680}" srcOrd="3" destOrd="0" presId="urn:microsoft.com/office/officeart/2005/8/layout/radial2"/>
    <dgm:cxn modelId="{09EF1E5E-BB71-415F-8257-8A78E3881C45}" type="presParOf" srcId="{4AD80ED9-ADF2-4ED3-8E05-B9DA45E06A3C}" destId="{528C6CE2-5C16-4CB7-92DB-DFA681B53F55}" srcOrd="4" destOrd="0" presId="urn:microsoft.com/office/officeart/2005/8/layout/radial2"/>
    <dgm:cxn modelId="{949BEC9D-B9C4-4047-826E-EBFB3B2FDEB2}" type="presParOf" srcId="{528C6CE2-5C16-4CB7-92DB-DFA681B53F55}" destId="{486E94E3-A385-42B2-9002-AEDE772D687C}" srcOrd="0" destOrd="0" presId="urn:microsoft.com/office/officeart/2005/8/layout/radial2"/>
    <dgm:cxn modelId="{DEB3FE96-42B9-4DA4-884F-327DEE628B1E}" type="presParOf" srcId="{528C6CE2-5C16-4CB7-92DB-DFA681B53F55}" destId="{4F4FFE41-70FC-414F-82FF-A9047C1DF1D4}" srcOrd="1" destOrd="0" presId="urn:microsoft.com/office/officeart/2005/8/layout/radial2"/>
    <dgm:cxn modelId="{36D066E0-B718-4A28-87D9-B6E78897055F}" type="presParOf" srcId="{4AD80ED9-ADF2-4ED3-8E05-B9DA45E06A3C}" destId="{D24B3B34-6589-4E9D-8023-EE2117DED28E}" srcOrd="5" destOrd="0" presId="urn:microsoft.com/office/officeart/2005/8/layout/radial2"/>
    <dgm:cxn modelId="{FFCE7856-E448-491D-A059-4A9823BFDC24}" type="presParOf" srcId="{4AD80ED9-ADF2-4ED3-8E05-B9DA45E06A3C}" destId="{DAF13B36-3F01-4250-B584-F508EE75C3CB}" srcOrd="6" destOrd="0" presId="urn:microsoft.com/office/officeart/2005/8/layout/radial2"/>
    <dgm:cxn modelId="{BE08DBAD-AEE1-496A-B2FF-846ECA20B4BE}" type="presParOf" srcId="{DAF13B36-3F01-4250-B584-F508EE75C3CB}" destId="{71A97E10-071F-446B-B925-47766F1C077A}" srcOrd="0" destOrd="0" presId="urn:microsoft.com/office/officeart/2005/8/layout/radial2"/>
    <dgm:cxn modelId="{48E04B56-4FAD-4BF0-97C5-5ED42FADDCF7}" type="presParOf" srcId="{DAF13B36-3F01-4250-B584-F508EE75C3CB}" destId="{2C3AF570-7BB5-42C6-9449-5F62473C38DE}" srcOrd="1" destOrd="0" presId="urn:microsoft.com/office/officeart/2005/8/layout/radial2"/>
    <dgm:cxn modelId="{6384E861-4980-4B4F-BDB7-A5B636AECBFB}" type="presParOf" srcId="{4AD80ED9-ADF2-4ED3-8E05-B9DA45E06A3C}" destId="{F2028541-1213-4591-8EEC-55DCFEA04F0C}" srcOrd="7" destOrd="0" presId="urn:microsoft.com/office/officeart/2005/8/layout/radial2"/>
    <dgm:cxn modelId="{7AE92107-221E-4936-9D81-619CC613C5B3}" type="presParOf" srcId="{4AD80ED9-ADF2-4ED3-8E05-B9DA45E06A3C}" destId="{C7140F10-C516-4E9C-A4DD-4946F22D4730}" srcOrd="8" destOrd="0" presId="urn:microsoft.com/office/officeart/2005/8/layout/radial2"/>
    <dgm:cxn modelId="{93D26508-41F5-43FD-9B23-5F58B61987E4}" type="presParOf" srcId="{C7140F10-C516-4E9C-A4DD-4946F22D4730}" destId="{76A7F7D2-3CA3-419B-A7F5-7DA5200302C6}" srcOrd="0" destOrd="0" presId="urn:microsoft.com/office/officeart/2005/8/layout/radial2"/>
    <dgm:cxn modelId="{FD138DED-1FEC-49AB-93A9-9E4C93FD4F7D}" type="presParOf" srcId="{C7140F10-C516-4E9C-A4DD-4946F22D4730}" destId="{3845E257-9A78-4781-9B4C-05423B343CE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FFA24-1EE2-490E-9AC0-3A46E1F193D8}">
      <dsp:nvSpPr>
        <dsp:cNvPr id="0" name=""/>
        <dsp:cNvSpPr/>
      </dsp:nvSpPr>
      <dsp:spPr>
        <a:xfrm rot="5400000">
          <a:off x="-155208" y="158093"/>
          <a:ext cx="1034726" cy="724308"/>
        </a:xfrm>
        <a:prstGeom prst="chevron">
          <a:avLst/>
        </a:prstGeom>
        <a:solidFill>
          <a:srgbClr val="CCCCFF"/>
        </a:solidFill>
        <a:ln w="2540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壹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1" y="365038"/>
        <a:ext cx="724308" cy="310418"/>
      </dsp:txXfrm>
    </dsp:sp>
    <dsp:sp modelId="{0B18CCBE-F741-4D17-8665-2458421106DC}">
      <dsp:nvSpPr>
        <dsp:cNvPr id="0" name=""/>
        <dsp:cNvSpPr/>
      </dsp:nvSpPr>
      <dsp:spPr>
        <a:xfrm rot="5400000">
          <a:off x="4140491" y="-3413298"/>
          <a:ext cx="672925" cy="7505291"/>
        </a:xfrm>
        <a:prstGeom prst="round2SameRect">
          <a:avLst/>
        </a:prstGeom>
        <a:solidFill>
          <a:schemeClr val="accent3">
            <a:lumMod val="95000"/>
          </a:schemeClr>
        </a:solidFill>
        <a:ln w="317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資料開放</a:t>
          </a:r>
          <a:r>
            <a:rPr kumimoji="1" lang="zh-TW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諮詢小組運作方式</a:t>
          </a:r>
          <a:endParaRPr kumimoji="1" lang="zh-TW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724309" y="35733"/>
        <a:ext cx="7472442" cy="607227"/>
      </dsp:txXfrm>
    </dsp:sp>
    <dsp:sp modelId="{AACE1D3B-6AE0-407D-9827-BA37C6EF3B26}">
      <dsp:nvSpPr>
        <dsp:cNvPr id="0" name=""/>
        <dsp:cNvSpPr/>
      </dsp:nvSpPr>
      <dsp:spPr>
        <a:xfrm rot="5400000">
          <a:off x="-155208" y="1075101"/>
          <a:ext cx="1034726" cy="724308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貮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1" y="1282046"/>
        <a:ext cx="724308" cy="310418"/>
      </dsp:txXfrm>
    </dsp:sp>
    <dsp:sp modelId="{E24ABD41-4B32-4076-BD1D-5917A91652B6}">
      <dsp:nvSpPr>
        <dsp:cNvPr id="0" name=""/>
        <dsp:cNvSpPr/>
      </dsp:nvSpPr>
      <dsp:spPr>
        <a:xfrm rot="5400000">
          <a:off x="4140668" y="-2496467"/>
          <a:ext cx="672572" cy="7505291"/>
        </a:xfrm>
        <a:prstGeom prst="round2SameRect">
          <a:avLst/>
        </a:prstGeom>
        <a:solidFill>
          <a:schemeClr val="accent3">
            <a:lumMod val="95000"/>
          </a:schemeClr>
        </a:solidFill>
        <a:ln w="317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歷次會議決議事項辦理情形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724309" y="952724"/>
        <a:ext cx="7472459" cy="606908"/>
      </dsp:txXfrm>
    </dsp:sp>
    <dsp:sp modelId="{DE80503D-1CEB-4380-A750-0136C30AF13E}">
      <dsp:nvSpPr>
        <dsp:cNvPr id="0" name=""/>
        <dsp:cNvSpPr/>
      </dsp:nvSpPr>
      <dsp:spPr>
        <a:xfrm rot="5400000">
          <a:off x="-155208" y="1992108"/>
          <a:ext cx="1034726" cy="724308"/>
        </a:xfrm>
        <a:prstGeom prst="chevron">
          <a:avLst/>
        </a:prstGeom>
        <a:solidFill>
          <a:srgbClr val="CCCCFF"/>
        </a:solidFill>
        <a:ln w="2540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參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1" y="2199053"/>
        <a:ext cx="724308" cy="310418"/>
      </dsp:txXfrm>
    </dsp:sp>
    <dsp:sp modelId="{7716A363-4332-45F2-B686-AFF46D4AC253}">
      <dsp:nvSpPr>
        <dsp:cNvPr id="0" name=""/>
        <dsp:cNvSpPr/>
      </dsp:nvSpPr>
      <dsp:spPr>
        <a:xfrm rot="5400000">
          <a:off x="4140668" y="-1579459"/>
          <a:ext cx="672572" cy="7505291"/>
        </a:xfrm>
        <a:prstGeom prst="round2SameRect">
          <a:avLst/>
        </a:prstGeom>
        <a:solidFill>
          <a:schemeClr val="accent3">
            <a:lumMod val="95000"/>
          </a:schemeClr>
        </a:solidFill>
        <a:ln w="2540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本會資料開放推動現況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724309" y="1869732"/>
        <a:ext cx="7472459" cy="606908"/>
      </dsp:txXfrm>
    </dsp:sp>
    <dsp:sp modelId="{5606D92B-32CA-42B7-9D62-6AF9C426BF65}">
      <dsp:nvSpPr>
        <dsp:cNvPr id="0" name=""/>
        <dsp:cNvSpPr/>
      </dsp:nvSpPr>
      <dsp:spPr>
        <a:xfrm rot="5400000">
          <a:off x="-155208" y="2909116"/>
          <a:ext cx="1034726" cy="724308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肆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1" y="3116061"/>
        <a:ext cx="724308" cy="310418"/>
      </dsp:txXfrm>
    </dsp:sp>
    <dsp:sp modelId="{8F8B1B44-5F38-4843-8273-6B0468A1CDA0}">
      <dsp:nvSpPr>
        <dsp:cNvPr id="0" name=""/>
        <dsp:cNvSpPr/>
      </dsp:nvSpPr>
      <dsp:spPr>
        <a:xfrm rot="5400000">
          <a:off x="4140668" y="-662452"/>
          <a:ext cx="672572" cy="7505291"/>
        </a:xfrm>
        <a:prstGeom prst="round2SameRect">
          <a:avLst/>
        </a:prstGeom>
        <a:solidFill>
          <a:schemeClr val="accent3">
            <a:lumMod val="95000"/>
          </a:schemeClr>
        </a:solidFill>
        <a:ln w="317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報告事項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724309" y="2786739"/>
        <a:ext cx="7472459" cy="606908"/>
      </dsp:txXfrm>
    </dsp:sp>
    <dsp:sp modelId="{FAA04428-5566-4C92-92DD-47F5053C3BDD}">
      <dsp:nvSpPr>
        <dsp:cNvPr id="0" name=""/>
        <dsp:cNvSpPr/>
      </dsp:nvSpPr>
      <dsp:spPr>
        <a:xfrm rot="5400000">
          <a:off x="-155208" y="3826123"/>
          <a:ext cx="1034726" cy="724308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伍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1" y="4033068"/>
        <a:ext cx="724308" cy="310418"/>
      </dsp:txXfrm>
    </dsp:sp>
    <dsp:sp modelId="{C1FABFC8-2510-419A-9DEF-82EB9EE3335E}">
      <dsp:nvSpPr>
        <dsp:cNvPr id="0" name=""/>
        <dsp:cNvSpPr/>
      </dsp:nvSpPr>
      <dsp:spPr>
        <a:xfrm rot="5400000">
          <a:off x="4140668" y="254555"/>
          <a:ext cx="672572" cy="7505291"/>
        </a:xfrm>
        <a:prstGeom prst="round2SameRect">
          <a:avLst/>
        </a:prstGeom>
        <a:solidFill>
          <a:schemeClr val="accent3">
            <a:lumMod val="95000"/>
          </a:schemeClr>
        </a:solidFill>
        <a:ln w="3175" cap="flat" cmpd="sng" algn="ctr">
          <a:solidFill>
            <a:schemeClr val="accent6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2860" rIns="22860" bIns="22860" numCol="1" spcCol="1270" anchor="ctr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kumimoji="1" lang="zh-TW" altLang="en-US" sz="3600" b="1" kern="1200" dirty="0" smtClean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討論事項</a:t>
          </a:r>
          <a:endParaRPr kumimoji="1" lang="zh-TW" altLang="en-US" sz="3600" b="1" kern="1200" dirty="0">
            <a:solidFill>
              <a:schemeClr val="accent6">
                <a:lumMod val="50000"/>
              </a:schemeClr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 rot="-5400000">
        <a:off x="724309" y="3703746"/>
        <a:ext cx="7472459" cy="6069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CC5C8-3922-44FB-9115-C20D33CDC874}">
      <dsp:nvSpPr>
        <dsp:cNvPr id="0" name=""/>
        <dsp:cNvSpPr/>
      </dsp:nvSpPr>
      <dsp:spPr>
        <a:xfrm>
          <a:off x="95951" y="73607"/>
          <a:ext cx="2530837" cy="8560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sz="3300" b="1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成立依據</a:t>
          </a:r>
          <a:endParaRPr kumimoji="1" lang="zh-TW" sz="33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37740" y="115396"/>
        <a:ext cx="2447259" cy="772478"/>
      </dsp:txXfrm>
    </dsp:sp>
    <dsp:sp modelId="{D43CAECD-1138-4C7C-A644-BE5ACCE3EAC1}">
      <dsp:nvSpPr>
        <dsp:cNvPr id="0" name=""/>
        <dsp:cNvSpPr/>
      </dsp:nvSpPr>
      <dsp:spPr>
        <a:xfrm>
          <a:off x="0" y="914030"/>
          <a:ext cx="8435280" cy="870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20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行政院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104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年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4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月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7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日院授發資字第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1041500401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號函頒「政府資料開放諮詢小組設置要點」。</a:t>
          </a:r>
          <a:endParaRPr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0" y="914030"/>
        <a:ext cx="8435280" cy="870952"/>
      </dsp:txXfrm>
    </dsp:sp>
    <dsp:sp modelId="{DCB0DE7A-6B27-434C-B020-3D5689EADAD8}">
      <dsp:nvSpPr>
        <dsp:cNvPr id="0" name=""/>
        <dsp:cNvSpPr/>
      </dsp:nvSpPr>
      <dsp:spPr>
        <a:xfrm>
          <a:off x="95951" y="1800193"/>
          <a:ext cx="2471283" cy="8793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300" b="1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組織</a:t>
          </a:r>
          <a:r>
            <a:rPr kumimoji="1" lang="zh-TW" sz="3300" b="1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架構</a:t>
          </a:r>
          <a:endParaRPr lang="zh-TW" altLang="en-US" sz="3300" kern="1200" dirty="0"/>
        </a:p>
      </dsp:txBody>
      <dsp:txXfrm>
        <a:off x="138876" y="1843118"/>
        <a:ext cx="2385433" cy="793465"/>
      </dsp:txXfrm>
    </dsp:sp>
    <dsp:sp modelId="{5F9B2EC0-E4C8-4651-9B25-2BA0A107D2F8}">
      <dsp:nvSpPr>
        <dsp:cNvPr id="0" name=""/>
        <dsp:cNvSpPr/>
      </dsp:nvSpPr>
      <dsp:spPr>
        <a:xfrm>
          <a:off x="0" y="2664297"/>
          <a:ext cx="8435280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2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altLang="en-US" sz="2600" kern="120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召</a:t>
          </a:r>
          <a:r>
            <a:rPr kumimoji="1" lang="zh-TW" sz="2600" kern="120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集人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人：由本會資訊長擔任。</a:t>
          </a:r>
          <a:endParaRPr lang="zh-TW" altLang="en-US" sz="2600" kern="1200" dirty="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機關代表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人：由業務單位主管及所屬機關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檔案局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)  </a:t>
          </a:r>
          <a:r>
            <a:rPr kumimoji="1" lang="zh-TW" alt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副局長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擔任。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民間代表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6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人：由業務領域代表、公（協）會、社會團體代表、具相關學術專長或實務經驗之學者專家擔任。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0" y="2664297"/>
        <a:ext cx="8435280" cy="2595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7CC5C8-3922-44FB-9115-C20D33CDC874}">
      <dsp:nvSpPr>
        <dsp:cNvPr id="0" name=""/>
        <dsp:cNvSpPr/>
      </dsp:nvSpPr>
      <dsp:spPr>
        <a:xfrm>
          <a:off x="95951" y="44076"/>
          <a:ext cx="2530837" cy="8560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sz="3300" b="1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委員任期</a:t>
          </a:r>
          <a:endParaRPr kumimoji="1" lang="zh-TW" sz="33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37740" y="85865"/>
        <a:ext cx="2447259" cy="772478"/>
      </dsp:txXfrm>
    </dsp:sp>
    <dsp:sp modelId="{D43CAECD-1138-4C7C-A644-BE5ACCE3EAC1}">
      <dsp:nvSpPr>
        <dsp:cNvPr id="0" name=""/>
        <dsp:cNvSpPr/>
      </dsp:nvSpPr>
      <dsp:spPr>
        <a:xfrm>
          <a:off x="0" y="882966"/>
          <a:ext cx="8435280" cy="956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20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機關代表：隨本職進退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民間代表：</a:t>
          </a:r>
          <a:r>
            <a:rPr kumimoji="1" 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年，期滿得續聘</a:t>
          </a:r>
          <a:r>
            <a:rPr kumimoji="1" lang="en-US" alt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</a:t>
          </a:r>
          <a:r>
            <a:rPr kumimoji="1" lang="zh-TW" alt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次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0" y="882966"/>
        <a:ext cx="8435280" cy="956340"/>
      </dsp:txXfrm>
    </dsp:sp>
    <dsp:sp modelId="{80A9C57A-C5DA-4101-B34A-93AA0549E520}">
      <dsp:nvSpPr>
        <dsp:cNvPr id="0" name=""/>
        <dsp:cNvSpPr/>
      </dsp:nvSpPr>
      <dsp:spPr>
        <a:xfrm>
          <a:off x="95951" y="1856152"/>
          <a:ext cx="2530837" cy="8560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3300" b="1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小組任務</a:t>
          </a:r>
          <a:endParaRPr kumimoji="1" lang="zh-TW" sz="3300" b="1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37740" y="1897941"/>
        <a:ext cx="2447259" cy="772478"/>
      </dsp:txXfrm>
    </dsp:sp>
    <dsp:sp modelId="{A01BAB4A-9587-4CB3-B735-4A6826CFBDA2}">
      <dsp:nvSpPr>
        <dsp:cNvPr id="0" name=""/>
        <dsp:cNvSpPr/>
      </dsp:nvSpPr>
      <dsp:spPr>
        <a:xfrm>
          <a:off x="0" y="2695362"/>
          <a:ext cx="8435280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20" tIns="41910" rIns="234696" bIns="41910" numCol="1" spcCol="1270" anchor="t" anchorCtr="0">
          <a:noAutofit/>
        </a:bodyPr>
        <a:lstStyle/>
        <a:p>
          <a:pPr marL="354013" lvl="1" indent="-354013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擬訂</a:t>
          </a:r>
          <a:r>
            <a:rPr kumimoji="1" lang="zh-TW" altLang="en-US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本會</a:t>
          </a: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與所屬機關資料開放行動策略，強化政府資料開放質與量、建立推廣及績效管理機制。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marL="354013" lvl="1" indent="-354013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規劃指導所屬機關資料開放，推動資料集分級、收費疑義之諮詢及協調。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marL="354013" lvl="1" indent="-354013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kumimoji="1" lang="zh-TW" sz="2600" kern="12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建立政府與民間溝通管道，促進多元領域代表參與資料開放諮詢及協調，共商解決方案。</a:t>
          </a:r>
          <a:endParaRPr kumimoji="1" lang="zh-TW" sz="2600" kern="1200" dirty="0">
            <a:solidFill>
              <a:srgbClr val="00206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0" y="2695362"/>
        <a:ext cx="8435280" cy="2595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3FD2B-7928-4C59-82BA-B0B7F83A4D15}">
      <dsp:nvSpPr>
        <dsp:cNvPr id="0" name=""/>
        <dsp:cNvSpPr/>
      </dsp:nvSpPr>
      <dsp:spPr>
        <a:xfrm>
          <a:off x="4042803" y="427563"/>
          <a:ext cx="2671571" cy="2671571"/>
        </a:xfrm>
        <a:prstGeom prst="gear9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800" b="1" kern="1200" dirty="0" smtClean="0">
              <a:solidFill>
                <a:schemeClr val="accent1">
                  <a:lumMod val="50000"/>
                </a:schemeClr>
              </a:solidFill>
            </a:rPr>
            <a:t>行政院諮詢小組</a:t>
          </a:r>
          <a:endParaRPr lang="zh-TW" altLang="en-US" sz="2800" b="1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4579908" y="1053366"/>
        <a:ext cx="1597361" cy="1373242"/>
      </dsp:txXfrm>
    </dsp:sp>
    <dsp:sp modelId="{72D5E236-B17F-4B41-ACD2-194A35810C69}">
      <dsp:nvSpPr>
        <dsp:cNvPr id="0" name=""/>
        <dsp:cNvSpPr/>
      </dsp:nvSpPr>
      <dsp:spPr>
        <a:xfrm>
          <a:off x="2170585" y="1451294"/>
          <a:ext cx="2236911" cy="2149109"/>
        </a:xfrm>
        <a:prstGeom prst="gear6">
          <a:avLst/>
        </a:prstGeom>
        <a:solidFill>
          <a:schemeClr val="accent5">
            <a:hueOff val="2571418"/>
            <a:satOff val="5874"/>
            <a:lumOff val="-1627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solidFill>
                <a:schemeClr val="accent4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本會諮詢小組</a:t>
          </a:r>
          <a:endParaRPr lang="zh-TW" altLang="en-US" sz="2400" b="1" kern="1200" dirty="0">
            <a:solidFill>
              <a:schemeClr val="accent4">
                <a:lumMod val="95000"/>
                <a:lumOff val="5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24393" y="1995609"/>
        <a:ext cx="1129295" cy="1060479"/>
      </dsp:txXfrm>
    </dsp:sp>
    <dsp:sp modelId="{F553F75B-F3F9-4D64-B5BF-297C890030CB}">
      <dsp:nvSpPr>
        <dsp:cNvPr id="0" name=""/>
        <dsp:cNvSpPr/>
      </dsp:nvSpPr>
      <dsp:spPr>
        <a:xfrm rot="20700000">
          <a:off x="3907078" y="2739773"/>
          <a:ext cx="1903705" cy="1903705"/>
        </a:xfrm>
        <a:prstGeom prst="gear6">
          <a:avLst/>
        </a:prstGeom>
        <a:solidFill>
          <a:schemeClr val="accent5">
            <a:hueOff val="5142836"/>
            <a:satOff val="11748"/>
            <a:lumOff val="-3254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700" kern="1200" dirty="0" smtClean="0"/>
            <a:t>本會資訊業務推動</a:t>
          </a:r>
          <a:r>
            <a:rPr lang="en-US" altLang="zh-TW" sz="1700" kern="1200" dirty="0" smtClean="0"/>
            <a:t>(</a:t>
          </a:r>
          <a:r>
            <a:rPr lang="zh-TW" altLang="en-US" sz="1700" kern="1200" dirty="0" smtClean="0"/>
            <a:t>工作</a:t>
          </a:r>
          <a:r>
            <a:rPr lang="en-US" altLang="zh-TW" sz="1700" kern="1200" dirty="0" smtClean="0"/>
            <a:t>)</a:t>
          </a:r>
          <a:r>
            <a:rPr lang="zh-TW" altLang="en-US" sz="1700" kern="1200" dirty="0" smtClean="0"/>
            <a:t>小組</a:t>
          </a:r>
          <a:endParaRPr lang="zh-TW" altLang="en-US" sz="1700" kern="1200" dirty="0"/>
        </a:p>
      </dsp:txBody>
      <dsp:txXfrm rot="-20700000">
        <a:off x="4324616" y="3157311"/>
        <a:ext cx="1068628" cy="1068628"/>
      </dsp:txXfrm>
    </dsp:sp>
    <dsp:sp modelId="{C8FE5F14-F3E2-46D9-ACDF-23EFF62ED7D1}">
      <dsp:nvSpPr>
        <dsp:cNvPr id="0" name=""/>
        <dsp:cNvSpPr/>
      </dsp:nvSpPr>
      <dsp:spPr>
        <a:xfrm rot="1301268">
          <a:off x="3948274" y="0"/>
          <a:ext cx="3419611" cy="3419611"/>
        </a:xfrm>
        <a:prstGeom prst="circularArrow">
          <a:avLst>
            <a:gd name="adj1" fmla="val 4688"/>
            <a:gd name="adj2" fmla="val 299029"/>
            <a:gd name="adj3" fmla="val 2530008"/>
            <a:gd name="adj4" fmla="val 15831773"/>
            <a:gd name="adj5" fmla="val 546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9CC86-25D4-4AD7-A615-0730755214BD}">
      <dsp:nvSpPr>
        <dsp:cNvPr id="0" name=""/>
        <dsp:cNvSpPr/>
      </dsp:nvSpPr>
      <dsp:spPr>
        <a:xfrm rot="4863487" flipV="1">
          <a:off x="1890432" y="1030336"/>
          <a:ext cx="2484561" cy="248456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5">
            <a:hueOff val="2571418"/>
            <a:satOff val="5874"/>
            <a:lumOff val="-1627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4E281-49CD-4F0D-9E2E-08B7762C7FD5}">
      <dsp:nvSpPr>
        <dsp:cNvPr id="0" name=""/>
        <dsp:cNvSpPr/>
      </dsp:nvSpPr>
      <dsp:spPr>
        <a:xfrm flipV="1">
          <a:off x="3466738" y="2376272"/>
          <a:ext cx="2678857" cy="267885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5">
            <a:hueOff val="5142836"/>
            <a:satOff val="11748"/>
            <a:lumOff val="-3254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28541-1213-4591-8EEC-55DCFEA04F0C}">
      <dsp:nvSpPr>
        <dsp:cNvPr id="0" name=""/>
        <dsp:cNvSpPr/>
      </dsp:nvSpPr>
      <dsp:spPr>
        <a:xfrm rot="2258512">
          <a:off x="3025997" y="3223245"/>
          <a:ext cx="1237753" cy="41132"/>
        </a:xfrm>
        <a:custGeom>
          <a:avLst/>
          <a:gdLst/>
          <a:ahLst/>
          <a:cxnLst/>
          <a:rect l="0" t="0" r="0" b="0"/>
          <a:pathLst>
            <a:path>
              <a:moveTo>
                <a:pt x="0" y="20566"/>
              </a:moveTo>
              <a:lnTo>
                <a:pt x="1237753" y="205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4B3B34-6589-4E9D-8023-EE2117DED28E}">
      <dsp:nvSpPr>
        <dsp:cNvPr id="0" name=""/>
        <dsp:cNvSpPr/>
      </dsp:nvSpPr>
      <dsp:spPr>
        <a:xfrm rot="594967">
          <a:off x="3148962" y="2545253"/>
          <a:ext cx="784252" cy="41132"/>
        </a:xfrm>
        <a:custGeom>
          <a:avLst/>
          <a:gdLst/>
          <a:ahLst/>
          <a:cxnLst/>
          <a:rect l="0" t="0" r="0" b="0"/>
          <a:pathLst>
            <a:path>
              <a:moveTo>
                <a:pt x="0" y="20566"/>
              </a:moveTo>
              <a:lnTo>
                <a:pt x="784252" y="205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63B7EF-C9A0-4CDB-9A9B-7F047D9DA680}">
      <dsp:nvSpPr>
        <dsp:cNvPr id="0" name=""/>
        <dsp:cNvSpPr/>
      </dsp:nvSpPr>
      <dsp:spPr>
        <a:xfrm rot="19927090">
          <a:off x="3137458" y="1974024"/>
          <a:ext cx="299120" cy="41132"/>
        </a:xfrm>
        <a:custGeom>
          <a:avLst/>
          <a:gdLst/>
          <a:ahLst/>
          <a:cxnLst/>
          <a:rect l="0" t="0" r="0" b="0"/>
          <a:pathLst>
            <a:path>
              <a:moveTo>
                <a:pt x="0" y="20566"/>
              </a:moveTo>
              <a:lnTo>
                <a:pt x="299120" y="205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548EE-1FC1-47F6-98D9-8D5B972AF98D}">
      <dsp:nvSpPr>
        <dsp:cNvPr id="0" name=""/>
        <dsp:cNvSpPr/>
      </dsp:nvSpPr>
      <dsp:spPr>
        <a:xfrm rot="16914311">
          <a:off x="2456280" y="1492129"/>
          <a:ext cx="534762" cy="41132"/>
        </a:xfrm>
        <a:custGeom>
          <a:avLst/>
          <a:gdLst/>
          <a:ahLst/>
          <a:cxnLst/>
          <a:rect l="0" t="0" r="0" b="0"/>
          <a:pathLst>
            <a:path>
              <a:moveTo>
                <a:pt x="0" y="20566"/>
              </a:moveTo>
              <a:lnTo>
                <a:pt x="534762" y="205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96685-E19F-48BC-A39A-A5B80F2DBF07}">
      <dsp:nvSpPr>
        <dsp:cNvPr id="0" name=""/>
        <dsp:cNvSpPr/>
      </dsp:nvSpPr>
      <dsp:spPr>
        <a:xfrm>
          <a:off x="685308" y="1549566"/>
          <a:ext cx="2686903" cy="2295944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241C1-68A7-4B06-B914-57119C6BFE4B}">
      <dsp:nvSpPr>
        <dsp:cNvPr id="0" name=""/>
        <dsp:cNvSpPr/>
      </dsp:nvSpPr>
      <dsp:spPr>
        <a:xfrm>
          <a:off x="2307978" y="204126"/>
          <a:ext cx="1160411" cy="1056407"/>
        </a:xfrm>
        <a:prstGeom prst="ellipse">
          <a:avLst/>
        </a:prstGeom>
        <a:solidFill>
          <a:srgbClr val="FFCC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762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900" b="0" i="0" u="none" strike="noStrike" kern="120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日期</a:t>
          </a:r>
          <a:endParaRPr lang="zh-TW" altLang="en-US" sz="2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477916" y="358833"/>
        <a:ext cx="820535" cy="746993"/>
      </dsp:txXfrm>
    </dsp:sp>
    <dsp:sp modelId="{486E94E3-A385-42B2-9002-AEDE772D687C}">
      <dsp:nvSpPr>
        <dsp:cNvPr id="0" name=""/>
        <dsp:cNvSpPr/>
      </dsp:nvSpPr>
      <dsp:spPr>
        <a:xfrm>
          <a:off x="3343234" y="1133567"/>
          <a:ext cx="1145706" cy="1056407"/>
        </a:xfrm>
        <a:prstGeom prst="ellipse">
          <a:avLst/>
        </a:prstGeom>
        <a:solidFill>
          <a:srgbClr val="FF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762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900" b="0" i="0" u="none" strike="noStrike" kern="120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對象</a:t>
          </a:r>
          <a:endParaRPr lang="zh-TW" altLang="en-US" sz="2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11019" y="1288274"/>
        <a:ext cx="810136" cy="746993"/>
      </dsp:txXfrm>
    </dsp:sp>
    <dsp:sp modelId="{71A97E10-071F-446B-B925-47766F1C077A}">
      <dsp:nvSpPr>
        <dsp:cNvPr id="0" name=""/>
        <dsp:cNvSpPr/>
      </dsp:nvSpPr>
      <dsp:spPr>
        <a:xfrm>
          <a:off x="3917916" y="2201612"/>
          <a:ext cx="1122539" cy="1056407"/>
        </a:xfrm>
        <a:prstGeom prst="ellipse">
          <a:avLst/>
        </a:prstGeom>
        <a:solidFill>
          <a:srgbClr val="CCFF9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762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900" b="0" i="0" u="none" strike="noStrike" kern="120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內容</a:t>
          </a:r>
          <a:endParaRPr lang="zh-TW" altLang="en-US" sz="2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82308" y="2356319"/>
        <a:ext cx="793755" cy="746993"/>
      </dsp:txXfrm>
    </dsp:sp>
    <dsp:sp modelId="{76A7F7D2-3CA3-419B-A7F5-7DA5200302C6}">
      <dsp:nvSpPr>
        <dsp:cNvPr id="0" name=""/>
        <dsp:cNvSpPr/>
      </dsp:nvSpPr>
      <dsp:spPr>
        <a:xfrm>
          <a:off x="3961707" y="3454620"/>
          <a:ext cx="1282690" cy="1056407"/>
        </a:xfrm>
        <a:prstGeom prst="ellipse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762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900" b="0" i="0" u="none" strike="noStrike" kern="120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rPr>
            <a:t>效益</a:t>
          </a:r>
          <a:endParaRPr lang="zh-TW" altLang="en-US" sz="2900" b="0" i="0" u="none" strike="noStrike" kern="1200" dirty="0">
            <a:solidFill>
              <a:srgbClr val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149553" y="3609327"/>
        <a:ext cx="906998" cy="746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2945659" cy="498056"/>
          </a:xfrm>
          <a:prstGeom prst="rect">
            <a:avLst/>
          </a:prstGeom>
        </p:spPr>
        <p:txBody>
          <a:bodyPr vert="horz" lIns="91267" tIns="45631" rIns="91267" bIns="4563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267" tIns="45631" rIns="91267" bIns="45631" rtlCol="0"/>
          <a:lstStyle>
            <a:lvl1pPr algn="r">
              <a:defRPr sz="1200"/>
            </a:lvl1pPr>
          </a:lstStyle>
          <a:p>
            <a:fld id="{DCF16AD3-7FFB-4C0E-A7F0-9B0289D55641}" type="datetimeFigureOut">
              <a:rPr lang="zh-TW" altLang="en-US" smtClean="0"/>
              <a:pPr/>
              <a:t>2017/9/27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6" y="9428584"/>
            <a:ext cx="2945659" cy="498055"/>
          </a:xfrm>
          <a:prstGeom prst="rect">
            <a:avLst/>
          </a:prstGeom>
        </p:spPr>
        <p:txBody>
          <a:bodyPr vert="horz" lIns="91267" tIns="45631" rIns="91267" bIns="4563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267" tIns="45631" rIns="91267" bIns="45631" rtlCol="0" anchor="b"/>
          <a:lstStyle>
            <a:lvl1pPr algn="r">
              <a:defRPr sz="1200"/>
            </a:lvl1pPr>
          </a:lstStyle>
          <a:p>
            <a:fld id="{127176A1-DA16-4EB3-9DFD-E1BDB78E2BF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984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2945659" cy="496332"/>
          </a:xfrm>
          <a:prstGeom prst="rect">
            <a:avLst/>
          </a:prstGeom>
        </p:spPr>
        <p:txBody>
          <a:bodyPr vert="horz" lIns="91267" tIns="45631" rIns="91267" bIns="4563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267" tIns="45631" rIns="91267" bIns="45631" rtlCol="0"/>
          <a:lstStyle>
            <a:lvl1pPr algn="r">
              <a:defRPr sz="1200"/>
            </a:lvl1pPr>
          </a:lstStyle>
          <a:p>
            <a:fld id="{86293DC7-D3DC-4C4D-9716-1280C6541B4E}" type="datetimeFigureOut">
              <a:rPr lang="zh-TW" altLang="en-US" smtClean="0"/>
              <a:pPr/>
              <a:t>2017/9/27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67" tIns="45631" rIns="91267" bIns="4563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267" tIns="45631" rIns="91267" bIns="45631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6" y="9428589"/>
            <a:ext cx="2945659" cy="496332"/>
          </a:xfrm>
          <a:prstGeom prst="rect">
            <a:avLst/>
          </a:prstGeom>
        </p:spPr>
        <p:txBody>
          <a:bodyPr vert="horz" lIns="91267" tIns="45631" rIns="91267" bIns="4563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9"/>
            <a:ext cx="2945659" cy="496332"/>
          </a:xfrm>
          <a:prstGeom prst="rect">
            <a:avLst/>
          </a:prstGeom>
        </p:spPr>
        <p:txBody>
          <a:bodyPr vert="horz" lIns="91267" tIns="45631" rIns="91267" bIns="45631" rtlCol="0" anchor="b"/>
          <a:lstStyle>
            <a:lvl1pPr algn="r">
              <a:defRPr sz="1200"/>
            </a:lvl1pPr>
          </a:lstStyle>
          <a:p>
            <a:fld id="{3DE4215B-6CEC-460A-A30B-120DEE8C6B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70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新細明體" pitchFamily="18" charset="-120"/>
              <a:ea typeface="新細明體" pitchFamily="18" charset="-120"/>
            </a:endParaRPr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59350" cy="3721100"/>
          </a:xfrm>
          <a:ln cap="flat"/>
        </p:spPr>
      </p:sp>
    </p:spTree>
    <p:extLst>
      <p:ext uri="{BB962C8B-B14F-4D97-AF65-F5344CB8AC3E}">
        <p14:creationId xmlns:p14="http://schemas.microsoft.com/office/powerpoint/2010/main" val="238666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60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0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68086" indent="-295417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81665" indent="-236335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54335" indent="-236335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127002" indent="-236335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99669" indent="-23633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3072336" indent="-23633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545003" indent="-23633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4017668" indent="-23633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7403008-C2F6-427C-8BEF-00C86AFB0D56}" type="slidenum">
              <a:rPr lang="en-US" altLang="zh-TW">
                <a:solidFill>
                  <a:prstClr val="black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TW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56025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086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14">
              <a:defRPr/>
            </a:pP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402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14">
              <a:defRPr/>
            </a:pP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99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367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423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227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588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724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381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9702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785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605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018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381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381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034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182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14">
              <a:defRPr/>
            </a:pP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>
                <a:solidFill>
                  <a:prstClr val="black"/>
                </a:solidFill>
              </a:rPr>
              <a:pPr/>
              <a:t>34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67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816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760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>
                <a:solidFill>
                  <a:prstClr val="black"/>
                </a:solidFill>
              </a:rPr>
              <a:pPr/>
              <a:t>42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228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4215B-6CEC-460A-A30B-120DEE8C6B8F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12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482D3-2F6B-4BC9-8197-F5C0F2E18EF8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513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53AB2-F19A-4BD0-B915-C2175D5F5FF6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414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87AFA-6B91-449A-9B4E-A196BD6F067A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057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90CB24-FF25-4AC2-AF8E-483740F6A265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84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F9AD5-31CC-4AFA-8CFE-06A1D1044809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87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599A9-473F-48A8-B158-E2E1AE2FD7AD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911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D0A9-EAB2-4341-9A61-1EA7C423C8E3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2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BEB2C-7EEB-4CC2-8E2A-2C18AD773829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54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09DE2F-70C3-4A65-AF80-6048E6DC2B7E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84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F739AB-61FC-42EB-B9AF-5295352F2301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61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643F5-CA76-47B8-951E-8B87CA102668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18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0E469-B885-48E5-BCC5-BB51021387E2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76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140AF-6940-4A4F-9AB3-03C23FB6802C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333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7772400" cy="88265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0" y="1474788"/>
            <a:ext cx="3810000" cy="49069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718050" y="1474788"/>
            <a:ext cx="3811588" cy="49069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53188"/>
            <a:ext cx="2133600" cy="2682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400" b="1">
              <a:solidFill>
                <a:prstClr val="black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2627313" y="6453188"/>
            <a:ext cx="2736850" cy="2889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400" b="1">
              <a:solidFill>
                <a:prstClr val="black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18BA9-C6AF-41E9-8D93-FA14654E36BA}" type="slidenum">
              <a:rPr lang="zh-TW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13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482D3-2F6B-4BC9-8197-F5C0F2E18EF8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26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defRPr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E53AB2-F19A-4BD0-B915-C2175D5F5FF6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77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87AFA-6B91-449A-9B4E-A196BD6F067A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156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90CB24-FF25-4AC2-AF8E-483740F6A265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0566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F9AD5-31CC-4AFA-8CFE-06A1D1044809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47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599A9-473F-48A8-B158-E2E1AE2FD7AD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179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D0A9-EAB2-4341-9A61-1EA7C423C8E3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46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BEB2C-7EEB-4CC2-8E2A-2C18AD773829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45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09DE2F-70C3-4A65-AF80-6048E6DC2B7E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4706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F739AB-61FC-42EB-B9AF-5295352F2301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191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643F5-CA76-47B8-951E-8B87CA102668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2796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0E469-B885-48E5-BCC5-BB51021387E2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451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140AF-6940-4A4F-9AB3-03C23FB6802C}" type="slidenum">
              <a:rPr lang="en-US" altLang="zh-TW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11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ChangeArrowheads="1"/>
          </p:cNvSpPr>
          <p:nvPr userDrawn="1"/>
        </p:nvSpPr>
        <p:spPr bwMode="auto">
          <a:xfrm>
            <a:off x="562708" y="6351588"/>
            <a:ext cx="7526215" cy="7461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4000" smtClean="0">
              <a:solidFill>
                <a:srgbClr val="3333CC"/>
              </a:solidFill>
            </a:endParaRPr>
          </a:p>
        </p:txBody>
      </p:sp>
      <p:sp>
        <p:nvSpPr>
          <p:cNvPr id="1027" name="Rectangle 13"/>
          <p:cNvSpPr>
            <a:spLocks noChangeArrowheads="1"/>
          </p:cNvSpPr>
          <p:nvPr userDrawn="1"/>
        </p:nvSpPr>
        <p:spPr bwMode="auto">
          <a:xfrm>
            <a:off x="1100504" y="1161130"/>
            <a:ext cx="6963508" cy="53975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4000" smtClean="0">
              <a:solidFill>
                <a:srgbClr val="3333CC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43901" y="6483350"/>
            <a:ext cx="706315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234810-ED99-44CB-A220-C3DB99C325B5}" type="slidenum">
              <a:rPr kumimoji="1" lang="en-US" altLang="zh-TW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TW">
              <a:solidFill>
                <a:srgbClr val="000000"/>
              </a:solidFill>
            </a:endParaRPr>
          </a:p>
        </p:txBody>
      </p:sp>
      <p:pic>
        <p:nvPicPr>
          <p:cNvPr id="1029" name="圖片 5"/>
          <p:cNvPicPr>
            <a:picLocks noChangeAspect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250831" y="6457951"/>
            <a:ext cx="478008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471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79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ChangeArrowheads="1"/>
          </p:cNvSpPr>
          <p:nvPr userDrawn="1"/>
        </p:nvSpPr>
        <p:spPr bwMode="auto">
          <a:xfrm>
            <a:off x="562708" y="6351588"/>
            <a:ext cx="7526215" cy="7461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4000" smtClean="0">
              <a:solidFill>
                <a:srgbClr val="3333CC"/>
              </a:solidFill>
            </a:endParaRPr>
          </a:p>
        </p:txBody>
      </p:sp>
      <p:sp>
        <p:nvSpPr>
          <p:cNvPr id="1027" name="Rectangle 13"/>
          <p:cNvSpPr>
            <a:spLocks noChangeArrowheads="1"/>
          </p:cNvSpPr>
          <p:nvPr userDrawn="1"/>
        </p:nvSpPr>
        <p:spPr bwMode="auto">
          <a:xfrm>
            <a:off x="1100504" y="1161130"/>
            <a:ext cx="6963508" cy="53975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50" indent="-28575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6002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2057400" indent="-228600" algn="ctr"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4000" smtClean="0">
              <a:solidFill>
                <a:srgbClr val="3333CC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43901" y="6483350"/>
            <a:ext cx="706315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234810-ED99-44CB-A220-C3DB99C325B5}" type="slidenum">
              <a:rPr kumimoji="1" lang="en-US" altLang="zh-TW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zh-TW">
              <a:solidFill>
                <a:srgbClr val="000000"/>
              </a:solidFill>
            </a:endParaRPr>
          </a:p>
        </p:txBody>
      </p:sp>
      <p:pic>
        <p:nvPicPr>
          <p:cNvPr id="1029" name="圖片 5"/>
          <p:cNvPicPr>
            <a:picLocks noChangeAspect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50831" y="6457951"/>
            <a:ext cx="478008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5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新細明體" charset="-120"/>
          <a:ea typeface="華康龍門石碑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07254" y="4065815"/>
            <a:ext cx="6169269" cy="1714500"/>
          </a:xfrm>
          <a:noFill/>
          <a:ln w="12700"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342900" indent="-342900" eaLnBrk="1" hangingPunct="1"/>
            <a:r>
              <a:rPr lang="zh-TW" altLang="en-US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資訊管理處</a:t>
            </a:r>
            <a:endParaRPr lang="en-US" altLang="zh-TW" sz="2800" b="1" dirty="0" smtClean="0">
              <a:solidFill>
                <a:srgbClr val="000099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" pitchFamily="18" charset="0"/>
            </a:endParaRPr>
          </a:p>
          <a:p>
            <a:pPr marL="342900" indent="-342900" eaLnBrk="1" hangingPunct="1"/>
            <a:r>
              <a:rPr lang="en-US" altLang="zh-TW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106</a:t>
            </a:r>
            <a:r>
              <a:rPr lang="zh-TW" altLang="en-US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年</a:t>
            </a:r>
            <a:r>
              <a:rPr lang="en-US" altLang="zh-TW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9</a:t>
            </a:r>
            <a:r>
              <a:rPr lang="zh-TW" altLang="en-US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月</a:t>
            </a:r>
            <a:r>
              <a:rPr lang="en-US" altLang="zh-TW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28</a:t>
            </a:r>
            <a:r>
              <a:rPr lang="zh-TW" altLang="en-US" sz="28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itchFamily="18" charset="0"/>
              </a:rPr>
              <a:t>日</a:t>
            </a:r>
          </a:p>
        </p:txBody>
      </p:sp>
      <p:sp>
        <p:nvSpPr>
          <p:cNvPr id="5" name="文字方塊 5"/>
          <p:cNvSpPr txBox="1">
            <a:spLocks noChangeArrowheads="1"/>
          </p:cNvSpPr>
          <p:nvPr/>
        </p:nvSpPr>
        <p:spPr bwMode="auto">
          <a:xfrm>
            <a:off x="483179" y="2088273"/>
            <a:ext cx="8164807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國家發展委員會資料</a:t>
            </a:r>
            <a:r>
              <a:rPr kumimoji="1" lang="zh-TW" altLang="en-US" sz="4000" b="1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開放諮詢</a:t>
            </a:r>
            <a:r>
              <a:rPr kumimoji="1" lang="zh-TW" altLang="en-US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小組</a:t>
            </a:r>
            <a:r>
              <a:rPr kumimoji="1" lang="en-US" altLang="zh-TW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106</a:t>
            </a:r>
            <a:r>
              <a:rPr kumimoji="1" lang="zh-TW" altLang="en-US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年第</a:t>
            </a:r>
            <a:r>
              <a:rPr kumimoji="1" lang="en-US" altLang="zh-TW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3</a:t>
            </a:r>
            <a:r>
              <a:rPr kumimoji="1" lang="zh-TW" altLang="en-US" sz="4000" b="1" dirty="0" smtClean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" panose="02020603050405020304" pitchFamily="18" charset="0"/>
              </a:rPr>
              <a:t>次會議</a:t>
            </a:r>
            <a:endParaRPr kumimoji="1" lang="en-US" altLang="zh-TW" sz="4000" b="1" dirty="0" smtClean="0">
              <a:solidFill>
                <a:srgbClr val="000099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482D3-2F6B-4BC9-8197-F5C0F2E18EF8}" type="slidenum">
              <a:rPr lang="en-US" altLang="zh-TW" smtClean="0">
                <a:solidFill>
                  <a:srgbClr val="000000"/>
                </a:solidFill>
              </a:rPr>
              <a:pPr/>
              <a:t>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018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議  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2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473521"/>
              </p:ext>
            </p:extLst>
          </p:nvPr>
        </p:nvGraphicFramePr>
        <p:xfrm>
          <a:off x="457200" y="1417639"/>
          <a:ext cx="8229600" cy="4708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253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920880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壹、資料開放諮詢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小組運作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方式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266514" y="2060848"/>
            <a:ext cx="7430544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一、諮詢小組二級制</a:t>
            </a:r>
            <a:endParaRPr lang="zh-TW" altLang="en-US" u="sng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二、本會諮詢小組運作方式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介紹本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會諮詢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小組成員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008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單箭頭接點 42"/>
          <p:cNvCxnSpPr/>
          <p:nvPr/>
        </p:nvCxnSpPr>
        <p:spPr>
          <a:xfrm>
            <a:off x="5973513" y="2619421"/>
            <a:ext cx="0" cy="29509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5973513" y="3543234"/>
            <a:ext cx="0" cy="29509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366009" y="2163276"/>
            <a:ext cx="1270862" cy="480290"/>
          </a:xfrm>
          <a:prstGeom prst="rect">
            <a:avLst/>
          </a:prstGeom>
          <a:solidFill>
            <a:srgbClr val="E2DED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幕僚機關</a:t>
            </a:r>
            <a:endParaRPr lang="en-US" altLang="zh-TW" sz="1200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國家發展委員會</a:t>
            </a:r>
            <a:endParaRPr lang="en-US" altLang="zh-TW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714" y="4005156"/>
            <a:ext cx="5175598" cy="22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3454254" y="4598037"/>
            <a:ext cx="6848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內政部</a:t>
            </a:r>
            <a:endParaRPr lang="zh-TW" altLang="en-US" sz="13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207597" y="4598037"/>
            <a:ext cx="6848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財政部</a:t>
            </a:r>
            <a:endParaRPr lang="zh-TW" altLang="en-US" sz="13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960940" y="4585148"/>
            <a:ext cx="6848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教育部</a:t>
            </a:r>
            <a:endParaRPr lang="en-US" altLang="zh-TW" sz="13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678072" y="4385093"/>
            <a:ext cx="684803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國家發</a:t>
            </a:r>
          </a:p>
          <a:p>
            <a:r>
              <a:rPr lang="zh-TW" altLang="en-US" sz="13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展委員</a:t>
            </a:r>
          </a:p>
          <a:p>
            <a:r>
              <a:rPr lang="zh-TW" altLang="en-US" sz="13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</a:t>
            </a:r>
            <a:endParaRPr lang="zh-TW" altLang="en-US" sz="13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439615" y="4577459"/>
            <a:ext cx="6848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經濟部</a:t>
            </a:r>
            <a:endParaRPr lang="zh-TW" altLang="en-US" sz="13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83036" y="4562261"/>
            <a:ext cx="6848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衛福部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7985799" y="44468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其他</a:t>
            </a:r>
            <a:endParaRPr lang="en-US" altLang="zh-TW" sz="14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部會</a:t>
            </a:r>
            <a:endParaRPr lang="zh-TW" altLang="en-US" sz="14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213236" y="5164352"/>
            <a:ext cx="3884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依各部會業務範圍推動資料分級諮詢</a:t>
            </a:r>
            <a:endParaRPr lang="zh-TW" altLang="en-US" sz="14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16755" y="5833968"/>
            <a:ext cx="3884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所屬機關依據分級結果提供開放資料</a:t>
            </a:r>
            <a:endParaRPr lang="zh-TW" altLang="en-US" sz="14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V="1">
            <a:off x="4672940" y="2417414"/>
            <a:ext cx="288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圓角矩形 27"/>
          <p:cNvSpPr/>
          <p:nvPr/>
        </p:nvSpPr>
        <p:spPr>
          <a:xfrm>
            <a:off x="4948050" y="2958019"/>
            <a:ext cx="2345825" cy="576000"/>
          </a:xfrm>
          <a:prstGeom prst="round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召開</a:t>
            </a:r>
            <a:r>
              <a:rPr lang="zh-TW" altLang="en-US" sz="16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會議以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擬定</a:t>
            </a:r>
            <a:r>
              <a:rPr lang="zh-TW" altLang="en-US" sz="16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政策</a:t>
            </a:r>
            <a:endParaRPr lang="en-US" altLang="zh-TW" sz="16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及檢視整體推動成效</a:t>
            </a:r>
            <a:endParaRPr lang="zh-TW" altLang="en-US" sz="1600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4892400" y="2195722"/>
            <a:ext cx="2533847" cy="4320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行政院資料開放諮詢小</a:t>
            </a:r>
            <a:r>
              <a:rPr lang="zh-TW" altLang="en-US" sz="16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endParaRPr lang="en-US" altLang="zh-TW" sz="1600" dirty="0" smtClean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3230090" y="2286002"/>
            <a:ext cx="2145" cy="3948374"/>
          </a:xfrm>
          <a:prstGeom prst="line">
            <a:avLst/>
          </a:prstGeom>
          <a:ln w="19050" cap="rnd">
            <a:solidFill>
              <a:schemeClr val="tx1"/>
            </a:solidFill>
            <a:prstDash val="sysDash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-138898" y="3838862"/>
            <a:ext cx="8982000" cy="0"/>
          </a:xfrm>
          <a:prstGeom prst="line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244376" y="2149542"/>
            <a:ext cx="2845388" cy="1497180"/>
          </a:xfrm>
          <a:prstGeom prst="rect">
            <a:avLst/>
          </a:prstGeom>
          <a:solidFill>
            <a:srgbClr val="F5E3D3"/>
          </a:solidFill>
          <a:ln>
            <a:solidFill>
              <a:srgbClr val="FDEADA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TW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擬訂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資料開放推動</a:t>
            </a:r>
            <a:r>
              <a:rPr lang="zh-TW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政策</a:t>
            </a:r>
            <a:endParaRPr lang="zh-TW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跨域合作溝通協調平</a:t>
            </a:r>
            <a:r>
              <a:rPr lang="zh-TW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臺</a:t>
            </a:r>
            <a:endParaRPr lang="zh-TW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督導資料開放推動</a:t>
            </a:r>
            <a:r>
              <a:rPr lang="zh-TW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成效</a:t>
            </a:r>
            <a:endParaRPr lang="zh-TW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0333" y="3970274"/>
            <a:ext cx="2783652" cy="22998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擬訂資料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開放行動</a:t>
            </a:r>
            <a:r>
              <a:rPr lang="zh-TW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策略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強化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政府資料開放質與量、建立推廣及績效管理機制。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規劃指導所屬機關資料開放，推動資料集分級、收費疑義之諮詢及協調。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建立政府與民間溝通管道，促進多元領域代表參與資料開放諮詢及</a:t>
            </a:r>
            <a:r>
              <a:rPr lang="zh-TW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協調。</a:t>
            </a:r>
            <a:endParaRPr lang="zh-TW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733291" y="4831152"/>
            <a:ext cx="4700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00" dirty="0" smtClean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……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790C181-89AC-44D4-8335-D061C7E6C4EF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4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標題 3"/>
          <p:cNvSpPr txBox="1">
            <a:spLocks/>
          </p:cNvSpPr>
          <p:nvPr/>
        </p:nvSpPr>
        <p:spPr>
          <a:xfrm>
            <a:off x="0" y="0"/>
            <a:ext cx="9144000" cy="686653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TW" altLang="en-US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一、諮詢小組二級制</a:t>
            </a:r>
            <a:r>
              <a:rPr lang="en-US" altLang="zh-TW" sz="36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本會兼具雙重角色</a:t>
            </a:r>
          </a:p>
          <a:p>
            <a:pPr algn="l"/>
            <a:endParaRPr lang="zh-TW" altLang="en-US" sz="3600" b="1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00333" y="726558"/>
            <a:ext cx="8343748" cy="132802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Wingdings" panose="05000000000000000000" pitchFamily="2" charset="2"/>
              <a:buChar char="n"/>
            </a:pPr>
            <a:r>
              <a:rPr lang="zh-TW" altLang="en-US" sz="1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統籌規劃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：國發會奉行政院指派，統籌協調各政府機關推動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開放，擬訂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資料開放推動政策，建立跨域合作溝通協調平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臺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algn="just">
              <a:buSzPct val="80000"/>
              <a:buFont typeface="Wingdings" panose="05000000000000000000" pitchFamily="2" charset="2"/>
              <a:buChar char="n"/>
            </a:pPr>
            <a:r>
              <a:rPr lang="zh-TW" altLang="en-US" sz="18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資料提供</a:t>
            </a:r>
            <a:r>
              <a:rPr lang="zh-TW" altLang="en-US" sz="18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：成立國發會資料開放諮詢小組，</a:t>
            </a:r>
            <a:r>
              <a:rPr lang="zh-TW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擬訂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國發會</a:t>
            </a:r>
            <a:r>
              <a:rPr lang="zh-TW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開放行動策略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強化資料</a:t>
            </a: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開放質與</a:t>
            </a:r>
            <a:r>
              <a:rPr lang="zh-TW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量</a:t>
            </a:r>
            <a:endParaRPr lang="en-US" altLang="zh-TW" sz="1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832624" y="2109637"/>
            <a:ext cx="1693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統籌規劃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66997" y="3869961"/>
            <a:ext cx="1693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資料提供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002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5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77686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壹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、資料開放諮詢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小組運作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方式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619672" y="1844824"/>
            <a:ext cx="6893630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一、諮詢小組二級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制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二、本</a:t>
            </a:r>
            <a:r>
              <a:rPr lang="zh-TW" altLang="en-US" u="sng" kern="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會諮詢小組運作方式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三、介紹本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會諮詢小組成員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88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297518"/>
              </p:ext>
            </p:extLst>
          </p:nvPr>
        </p:nvGraphicFramePr>
        <p:xfrm>
          <a:off x="443610" y="908720"/>
          <a:ext cx="8435280" cy="5318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6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0" y="0"/>
            <a:ext cx="8229600" cy="87477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二、本會諮詢小組運作方式</a:t>
            </a:r>
            <a:r>
              <a:rPr lang="en-US" altLang="zh-TW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(1/4)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33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286986"/>
              </p:ext>
            </p:extLst>
          </p:nvPr>
        </p:nvGraphicFramePr>
        <p:xfrm>
          <a:off x="443610" y="908720"/>
          <a:ext cx="8435280" cy="5318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7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0" y="0"/>
            <a:ext cx="8229600" cy="87477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二、本會諮詢小組運作方式</a:t>
            </a:r>
            <a:r>
              <a:rPr lang="en-US" altLang="zh-TW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(2/4)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31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手繪多邊形 25"/>
          <p:cNvSpPr/>
          <p:nvPr/>
        </p:nvSpPr>
        <p:spPr>
          <a:xfrm flipH="1">
            <a:off x="2483768" y="4269058"/>
            <a:ext cx="6953188" cy="1681317"/>
          </a:xfrm>
          <a:custGeom>
            <a:avLst/>
            <a:gdLst>
              <a:gd name="connsiteX0" fmla="*/ 5499100 w 7137400"/>
              <a:gd name="connsiteY0" fmla="*/ 12700 h 647700"/>
              <a:gd name="connsiteX1" fmla="*/ 5130800 w 7137400"/>
              <a:gd name="connsiteY1" fmla="*/ 165100 h 647700"/>
              <a:gd name="connsiteX2" fmla="*/ 4826000 w 7137400"/>
              <a:gd name="connsiteY2" fmla="*/ 266700 h 647700"/>
              <a:gd name="connsiteX3" fmla="*/ 4406900 w 7137400"/>
              <a:gd name="connsiteY3" fmla="*/ 355600 h 647700"/>
              <a:gd name="connsiteX4" fmla="*/ 4089400 w 7137400"/>
              <a:gd name="connsiteY4" fmla="*/ 406400 h 647700"/>
              <a:gd name="connsiteX5" fmla="*/ 3708400 w 7137400"/>
              <a:gd name="connsiteY5" fmla="*/ 444500 h 647700"/>
              <a:gd name="connsiteX6" fmla="*/ 3352800 w 7137400"/>
              <a:gd name="connsiteY6" fmla="*/ 495300 h 647700"/>
              <a:gd name="connsiteX7" fmla="*/ 2959100 w 7137400"/>
              <a:gd name="connsiteY7" fmla="*/ 508000 h 647700"/>
              <a:gd name="connsiteX8" fmla="*/ 2501900 w 7137400"/>
              <a:gd name="connsiteY8" fmla="*/ 520700 h 647700"/>
              <a:gd name="connsiteX9" fmla="*/ 2070100 w 7137400"/>
              <a:gd name="connsiteY9" fmla="*/ 546100 h 647700"/>
              <a:gd name="connsiteX10" fmla="*/ 1638300 w 7137400"/>
              <a:gd name="connsiteY10" fmla="*/ 558800 h 647700"/>
              <a:gd name="connsiteX11" fmla="*/ 1117600 w 7137400"/>
              <a:gd name="connsiteY11" fmla="*/ 571500 h 647700"/>
              <a:gd name="connsiteX12" fmla="*/ 673100 w 7137400"/>
              <a:gd name="connsiteY12" fmla="*/ 571500 h 647700"/>
              <a:gd name="connsiteX13" fmla="*/ 330200 w 7137400"/>
              <a:gd name="connsiteY13" fmla="*/ 584200 h 647700"/>
              <a:gd name="connsiteX14" fmla="*/ 0 w 7137400"/>
              <a:gd name="connsiteY14" fmla="*/ 609600 h 647700"/>
              <a:gd name="connsiteX15" fmla="*/ 7137400 w 7137400"/>
              <a:gd name="connsiteY15" fmla="*/ 647700 h 647700"/>
              <a:gd name="connsiteX16" fmla="*/ 6807200 w 7137400"/>
              <a:gd name="connsiteY16" fmla="*/ 546100 h 647700"/>
              <a:gd name="connsiteX17" fmla="*/ 6527800 w 7137400"/>
              <a:gd name="connsiteY17" fmla="*/ 381000 h 647700"/>
              <a:gd name="connsiteX18" fmla="*/ 6286500 w 7137400"/>
              <a:gd name="connsiteY18" fmla="*/ 165100 h 647700"/>
              <a:gd name="connsiteX19" fmla="*/ 6248400 w 7137400"/>
              <a:gd name="connsiteY19" fmla="*/ 0 h 647700"/>
              <a:gd name="connsiteX20" fmla="*/ 5499100 w 7137400"/>
              <a:gd name="connsiteY20" fmla="*/ 12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37400" h="647700">
                <a:moveTo>
                  <a:pt x="5499100" y="12700"/>
                </a:moveTo>
                <a:lnTo>
                  <a:pt x="5130800" y="165100"/>
                </a:lnTo>
                <a:lnTo>
                  <a:pt x="4826000" y="266700"/>
                </a:lnTo>
                <a:lnTo>
                  <a:pt x="4406900" y="355600"/>
                </a:lnTo>
                <a:lnTo>
                  <a:pt x="4089400" y="406400"/>
                </a:lnTo>
                <a:lnTo>
                  <a:pt x="3708400" y="444500"/>
                </a:lnTo>
                <a:lnTo>
                  <a:pt x="3352800" y="495300"/>
                </a:lnTo>
                <a:lnTo>
                  <a:pt x="2959100" y="508000"/>
                </a:lnTo>
                <a:lnTo>
                  <a:pt x="2501900" y="520700"/>
                </a:lnTo>
                <a:lnTo>
                  <a:pt x="2070100" y="546100"/>
                </a:lnTo>
                <a:lnTo>
                  <a:pt x="1638300" y="558800"/>
                </a:lnTo>
                <a:lnTo>
                  <a:pt x="1117600" y="571500"/>
                </a:lnTo>
                <a:lnTo>
                  <a:pt x="673100" y="571500"/>
                </a:lnTo>
                <a:lnTo>
                  <a:pt x="330200" y="584200"/>
                </a:lnTo>
                <a:lnTo>
                  <a:pt x="0" y="609600"/>
                </a:lnTo>
                <a:lnTo>
                  <a:pt x="7137400" y="647700"/>
                </a:lnTo>
                <a:lnTo>
                  <a:pt x="6807200" y="546100"/>
                </a:lnTo>
                <a:lnTo>
                  <a:pt x="6527800" y="381000"/>
                </a:lnTo>
                <a:lnTo>
                  <a:pt x="6286500" y="165100"/>
                </a:lnTo>
                <a:lnTo>
                  <a:pt x="6248400" y="0"/>
                </a:lnTo>
                <a:lnTo>
                  <a:pt x="5499100" y="1270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  <a:gs pos="89000">
                <a:schemeClr val="accent1">
                  <a:lumMod val="30000"/>
                  <a:lumOff val="7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1400" b="1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243459"/>
            <a:ext cx="9172588" cy="101392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32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委員名單、會議紀錄等資料公開</a:t>
            </a:r>
            <a:r>
              <a:rPr lang="zh-TW" altLang="en-US" sz="32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至政府資料開放平臺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6982092" y="6490495"/>
            <a:ext cx="2133600" cy="365125"/>
          </a:xfrm>
          <a:prstGeom prst="rect">
            <a:avLst/>
          </a:prstGeom>
        </p:spPr>
        <p:txBody>
          <a:bodyPr/>
          <a:lstStyle/>
          <a:p>
            <a:fld id="{6A382ACD-46F7-4FA2-9C5B-AAC07B510721}" type="slidenum">
              <a:rPr lang="zh-TW" altLang="en-US" smtClean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pPr/>
              <a:t>8</a:t>
            </a:fld>
            <a:endParaRPr lang="zh-TW" altLang="en-US" dirty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標題 1"/>
          <p:cNvSpPr txBox="1">
            <a:spLocks/>
          </p:cNvSpPr>
          <p:nvPr/>
        </p:nvSpPr>
        <p:spPr>
          <a:xfrm>
            <a:off x="23731" y="193388"/>
            <a:ext cx="8229600" cy="87477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二、本會諮詢小組運作方式</a:t>
            </a:r>
            <a:r>
              <a:rPr lang="en-US" altLang="zh-TW" sz="3600" kern="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(3/4)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23731" y="2098452"/>
            <a:ext cx="9162510" cy="3851923"/>
            <a:chOff x="23731" y="2306305"/>
            <a:chExt cx="9162510" cy="3851923"/>
          </a:xfrm>
        </p:grpSpPr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31" y="2306305"/>
              <a:ext cx="9162510" cy="3851923"/>
            </a:xfrm>
            <a:prstGeom prst="rect">
              <a:avLst/>
            </a:prstGeom>
          </p:spPr>
        </p:pic>
        <p:grpSp>
          <p:nvGrpSpPr>
            <p:cNvPr id="5" name="群組 4"/>
            <p:cNvGrpSpPr/>
            <p:nvPr/>
          </p:nvGrpSpPr>
          <p:grpSpPr>
            <a:xfrm>
              <a:off x="1921998" y="2589654"/>
              <a:ext cx="5962370" cy="3568574"/>
              <a:chOff x="1921998" y="2589654"/>
              <a:chExt cx="5962370" cy="3568574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6804248" y="2589654"/>
                <a:ext cx="1080120" cy="58390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sz="1400" b="1">
                  <a:solidFill>
                    <a:prstClr val="white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19" name="向右箭號 18"/>
              <p:cNvSpPr/>
              <p:nvPr/>
            </p:nvSpPr>
            <p:spPr bwMode="auto">
              <a:xfrm>
                <a:off x="1921998" y="5830745"/>
                <a:ext cx="504056" cy="277876"/>
              </a:xfrm>
              <a:prstGeom prst="rightArrow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40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標楷體" pitchFamily="65" charset="-120"/>
                  <a:ea typeface="標楷體" pitchFamily="65" charset="-120"/>
                </a:endParaRPr>
              </a:p>
            </p:txBody>
          </p:sp>
          <p:cxnSp>
            <p:nvCxnSpPr>
              <p:cNvPr id="20" name="直線接點 19"/>
              <p:cNvCxnSpPr/>
              <p:nvPr/>
            </p:nvCxnSpPr>
            <p:spPr bwMode="auto">
              <a:xfrm>
                <a:off x="2822098" y="5894258"/>
                <a:ext cx="2520280" cy="0"/>
              </a:xfrm>
              <a:prstGeom prst="line">
                <a:avLst/>
              </a:prstGeom>
              <a:solidFill>
                <a:srgbClr val="FFFFFF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/>
              <p:cNvCxnSpPr/>
              <p:nvPr/>
            </p:nvCxnSpPr>
            <p:spPr bwMode="auto">
              <a:xfrm>
                <a:off x="2822098" y="6158228"/>
                <a:ext cx="3528392" cy="0"/>
              </a:xfrm>
              <a:prstGeom prst="line">
                <a:avLst/>
              </a:prstGeom>
              <a:solidFill>
                <a:srgbClr val="FFFFFF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279661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268760"/>
          <a:ext cx="8229600" cy="4857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9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74775"/>
          </a:xfrm>
        </p:spPr>
        <p:txBody>
          <a:bodyPr>
            <a:normAutofit/>
          </a:bodyPr>
          <a:lstStyle/>
          <a:p>
            <a:pPr algn="l"/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二、本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會</a:t>
            </a:r>
            <a:r>
              <a:rPr lang="zh-TW" altLang="en-US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諮詢小組運作方式</a:t>
            </a:r>
            <a:r>
              <a:rPr lang="en-US" altLang="zh-TW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(4/4)</a:t>
            </a:r>
            <a:endParaRPr lang="zh-TW" altLang="en-US" sz="3600" b="1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114800" y="1484784"/>
            <a:ext cx="92333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2400" dirty="0" smtClean="0"/>
              <a:t>統籌規劃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835696" y="3573016"/>
            <a:ext cx="92333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2400" dirty="0" smtClean="0"/>
              <a:t>策略發展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300192" y="4869160"/>
            <a:ext cx="923330" cy="8640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TW" altLang="en-US" sz="2400" dirty="0" smtClean="0"/>
              <a:t>推動執行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102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10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704856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壹、資料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開放諮詢小組運作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方式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619672" y="1844824"/>
            <a:ext cx="6893630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一、諮詢小組二級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制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二、本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會諮詢小組運作方式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TW" altLang="en-US" u="sng" kern="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介紹本</a:t>
            </a:r>
            <a:r>
              <a:rPr lang="zh-TW" altLang="en-US" u="sng" kern="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會諮詢小組</a:t>
            </a:r>
            <a:r>
              <a:rPr lang="zh-TW" altLang="en-US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成員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版面配置區 15"/>
          <p:cNvSpPr>
            <a:spLocks noGrp="1"/>
          </p:cNvSpPr>
          <p:nvPr>
            <p:ph type="body" sz="half" idx="1"/>
          </p:nvPr>
        </p:nvSpPr>
        <p:spPr>
          <a:xfrm>
            <a:off x="1043608" y="1917576"/>
            <a:ext cx="4176464" cy="4071725"/>
          </a:xfrm>
        </p:spPr>
        <p:txBody>
          <a:bodyPr/>
          <a:lstStyle/>
          <a:p>
            <a:pPr defTabSz="876300">
              <a:buFont typeface="Wingdings" pitchFamily="2" charset="2"/>
              <a:buChar char="q"/>
            </a:pPr>
            <a:r>
              <a:rPr lang="zh-TW" altLang="en-US" sz="2400" b="1" dirty="0">
                <a:solidFill>
                  <a:srgbClr val="7030A0"/>
                </a:solidFill>
                <a:latin typeface="+mn-ea"/>
              </a:rPr>
              <a:t>機關代表</a:t>
            </a:r>
            <a:endParaRPr lang="en-US" altLang="zh-TW" sz="2400" b="1" dirty="0">
              <a:solidFill>
                <a:srgbClr val="7030A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經濟發展處：</a:t>
            </a: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吳明蕙</a:t>
            </a:r>
            <a:endParaRPr lang="en-US" altLang="zh-TW" sz="180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管制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考核處</a:t>
            </a: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：李　奇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　　</a:t>
            </a:r>
            <a:r>
              <a:rPr lang="en-US" altLang="zh-TW" sz="1800" dirty="0" smtClean="0">
                <a:solidFill>
                  <a:srgbClr val="002060"/>
                </a:solidFill>
                <a:latin typeface="+mn-ea"/>
              </a:rPr>
              <a:t/>
            </a:r>
            <a:br>
              <a:rPr lang="en-US" altLang="zh-TW" sz="1800" dirty="0" smtClean="0">
                <a:solidFill>
                  <a:srgbClr val="002060"/>
                </a:solidFill>
                <a:latin typeface="+mn-ea"/>
              </a:rPr>
            </a:b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人力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發展處</a:t>
            </a: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：林至美</a:t>
            </a:r>
            <a:endParaRPr lang="en-US" altLang="zh-TW" sz="1800" dirty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法 協 中 心 ：林志憲</a:t>
            </a:r>
            <a:endParaRPr lang="en-US" altLang="zh-TW" sz="180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主　計　室：邱蓉萍</a:t>
            </a:r>
            <a:endParaRPr lang="en-US" altLang="zh-TW" sz="180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綜合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規劃處：</a:t>
            </a: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張惠娟</a:t>
            </a:r>
            <a:endParaRPr lang="en-US" altLang="zh-TW" sz="180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國土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區域離島發展處：郭翡玉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檔案管理局：陳美蓉</a:t>
            </a: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產業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發展處：詹方冠</a:t>
            </a:r>
            <a:endParaRPr lang="en-US" altLang="zh-TW" sz="1800" dirty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資訊</a:t>
            </a:r>
            <a:r>
              <a:rPr lang="zh-TW" altLang="en-US" sz="1800" dirty="0">
                <a:solidFill>
                  <a:srgbClr val="002060"/>
                </a:solidFill>
                <a:latin typeface="+mn-ea"/>
              </a:rPr>
              <a:t>管理處</a:t>
            </a: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：潘國才</a:t>
            </a:r>
            <a:endParaRPr lang="en-US" altLang="zh-TW" sz="180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+mn-ea"/>
              </a:rPr>
              <a:t>行政院國家發展基金管理會：蘇來守</a:t>
            </a:r>
            <a:r>
              <a:rPr lang="zh-TW" altLang="en-US" sz="1800" b="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　</a:t>
            </a:r>
            <a:endParaRPr lang="zh-TW" altLang="en-US" sz="1800" b="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1800" b="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　　</a:t>
            </a:r>
            <a:endParaRPr lang="zh-TW" altLang="en-US" sz="1800" b="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6A382ACD-46F7-4FA2-9C5B-AAC07B510721}" type="slidenum">
              <a:rPr lang="zh-TW" altLang="en-US" smtClean="0">
                <a:solidFill>
                  <a:prstClr val="black"/>
                </a:solidFill>
              </a:rPr>
              <a:pPr/>
              <a:t>11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267744" y="1351380"/>
            <a:ext cx="4766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 smtClean="0">
                <a:solidFill>
                  <a:srgbClr val="7030A0"/>
                </a:solidFill>
              </a:rPr>
              <a:t>召集人</a:t>
            </a:r>
            <a:r>
              <a:rPr lang="zh-TW" altLang="en-US" sz="2000" dirty="0" smtClean="0">
                <a:solidFill>
                  <a:srgbClr val="002060"/>
                </a:solidFill>
              </a:rPr>
              <a:t>：曾旭正副主任委員（資訊長） </a:t>
            </a:r>
            <a:endParaRPr lang="zh-TW" altLang="en-US" sz="2000" dirty="0">
              <a:solidFill>
                <a:srgbClr val="002060"/>
              </a:solidFill>
            </a:endParaRPr>
          </a:p>
        </p:txBody>
      </p:sp>
      <p:sp>
        <p:nvSpPr>
          <p:cNvPr id="24" name="文字版面配置區 15"/>
          <p:cNvSpPr txBox="1">
            <a:spLocks/>
          </p:cNvSpPr>
          <p:nvPr/>
        </p:nvSpPr>
        <p:spPr bwMode="auto">
          <a:xfrm>
            <a:off x="4716015" y="1923586"/>
            <a:ext cx="3627886" cy="4065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876300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kumimoji="1" sz="32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349250" algn="l" defTabSz="876300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kumimoji="1" sz="2800" b="1">
                <a:solidFill>
                  <a:srgbClr val="009900"/>
                </a:solidFill>
                <a:latin typeface="+mn-lt"/>
                <a:ea typeface="+mn-ea"/>
              </a:defRPr>
            </a:lvl2pPr>
            <a:lvl3pPr marL="1066800" indent="-258763" algn="l" defTabSz="876300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kumimoji="1" sz="2400">
                <a:solidFill>
                  <a:srgbClr val="009900"/>
                </a:solidFill>
                <a:latin typeface="+mn-lt"/>
                <a:ea typeface="+mn-ea"/>
              </a:defRPr>
            </a:lvl3pPr>
            <a:lvl4pPr marL="1416050" indent="-169863" algn="l" defTabSz="876300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@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4pPr>
            <a:lvl5pPr marL="1776413" indent="-180975" algn="l" defTabSz="876300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itchFamily="18" charset="0"/>
              <a:buChar char="–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5pPr>
            <a:lvl6pPr marL="2233613" indent="-180975" algn="l" defTabSz="876300" rtl="0" eaLnBrk="1" fontAlgn="base" hangingPunct="1">
              <a:spcBef>
                <a:spcPct val="20000"/>
              </a:spcBef>
              <a:spcAft>
                <a:spcPct val="0"/>
              </a:spcAft>
              <a:buFont typeface="Times New Roman" pitchFamily="18" charset="0"/>
              <a:buChar char="–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6pPr>
            <a:lvl7pPr marL="2690813" indent="-180975" algn="l" defTabSz="876300" rtl="0" eaLnBrk="1" fontAlgn="base" hangingPunct="1">
              <a:spcBef>
                <a:spcPct val="20000"/>
              </a:spcBef>
              <a:spcAft>
                <a:spcPct val="0"/>
              </a:spcAft>
              <a:buFont typeface="Times New Roman" pitchFamily="18" charset="0"/>
              <a:buChar char="–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7pPr>
            <a:lvl8pPr marL="3148013" indent="-180975" algn="l" defTabSz="876300" rtl="0" eaLnBrk="1" fontAlgn="base" hangingPunct="1">
              <a:spcBef>
                <a:spcPct val="20000"/>
              </a:spcBef>
              <a:spcAft>
                <a:spcPct val="0"/>
              </a:spcAft>
              <a:buFont typeface="Times New Roman" pitchFamily="18" charset="0"/>
              <a:buChar char="–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8pPr>
            <a:lvl9pPr marL="3605213" indent="-180975" algn="l" defTabSz="876300" rtl="0" eaLnBrk="1" fontAlgn="base" hangingPunct="1">
              <a:spcBef>
                <a:spcPct val="20000"/>
              </a:spcBef>
              <a:spcAft>
                <a:spcPct val="0"/>
              </a:spcAft>
              <a:buFont typeface="Times New Roman" pitchFamily="18" charset="0"/>
              <a:buChar char="–"/>
              <a:defRPr kumimoji="1" sz="2000">
                <a:solidFill>
                  <a:srgbClr val="009900"/>
                </a:solidFill>
                <a:latin typeface="+mn-lt"/>
                <a:ea typeface="+mn-ea"/>
              </a:defRPr>
            </a:lvl9pPr>
          </a:lstStyle>
          <a:p>
            <a:r>
              <a:rPr lang="zh-TW" altLang="en-US" sz="2400" kern="0" dirty="0" smtClean="0">
                <a:solidFill>
                  <a:srgbClr val="7030A0"/>
                </a:solidFill>
                <a:latin typeface="+mn-ea"/>
              </a:rPr>
              <a:t>民</a:t>
            </a:r>
            <a:r>
              <a:rPr lang="zh-TW" altLang="en-US" sz="2400" kern="0" dirty="0">
                <a:solidFill>
                  <a:srgbClr val="7030A0"/>
                </a:solidFill>
                <a:latin typeface="+mn-ea"/>
              </a:rPr>
              <a:t>間</a:t>
            </a:r>
            <a:r>
              <a:rPr lang="zh-TW" altLang="en-US" sz="2400" kern="0" dirty="0" smtClean="0">
                <a:solidFill>
                  <a:srgbClr val="7030A0"/>
                </a:solidFill>
                <a:latin typeface="+mn-ea"/>
              </a:rPr>
              <a:t>代表</a:t>
            </a:r>
            <a:endParaRPr lang="en-US" altLang="zh-TW" sz="2400" kern="0" dirty="0" smtClean="0">
              <a:solidFill>
                <a:srgbClr val="7030A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　　李慕約有限公司：王向榮</a:t>
            </a:r>
            <a:endParaRPr lang="en-US" altLang="zh-TW" sz="1800" b="0" kern="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　　政　治　大　學：</a:t>
            </a:r>
            <a:r>
              <a:rPr lang="zh-TW" altLang="en-US" sz="1800" b="0" kern="0" dirty="0">
                <a:solidFill>
                  <a:srgbClr val="002060"/>
                </a:solidFill>
                <a:latin typeface="+mn-ea"/>
              </a:rPr>
              <a:t>朱斌</a:t>
            </a: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妤</a:t>
            </a:r>
            <a:endParaRPr lang="en-US" altLang="zh-TW" sz="1800" b="0" kern="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　　</a:t>
            </a:r>
            <a:r>
              <a:rPr lang="zh-TW" altLang="en-US" sz="1800" b="0" kern="0" dirty="0">
                <a:solidFill>
                  <a:srgbClr val="002060"/>
                </a:solidFill>
                <a:latin typeface="+mn-ea"/>
              </a:rPr>
              <a:t>李慕</a:t>
            </a: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約有限公司：李慕約</a:t>
            </a:r>
            <a:endParaRPr lang="en-US" altLang="zh-TW" sz="1800" b="0" kern="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　　開放文化基金會：林誠夏</a:t>
            </a:r>
            <a:endParaRPr lang="en-US" altLang="zh-TW" sz="1800" b="0" kern="0" dirty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　　究心公益科技公司：莊國煜</a:t>
            </a:r>
            <a:endParaRPr lang="en-US" altLang="zh-TW" sz="1800" b="0" kern="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        文</a:t>
            </a:r>
            <a:r>
              <a:rPr lang="zh-TW" altLang="en-US" sz="1800" b="0" kern="0" dirty="0">
                <a:solidFill>
                  <a:srgbClr val="002060"/>
                </a:solidFill>
                <a:latin typeface="+mn-ea"/>
              </a:rPr>
              <a:t>　化　大　學：許慧瑩</a:t>
            </a:r>
            <a:endParaRPr lang="en-US" altLang="zh-TW" sz="1800" b="0" kern="0" dirty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endParaRPr lang="zh-TW" altLang="en-US" sz="1800" b="0" kern="0" dirty="0" smtClean="0">
              <a:solidFill>
                <a:srgbClr val="002060"/>
              </a:solidFill>
              <a:latin typeface="+mn-ea"/>
            </a:endParaRPr>
          </a:p>
          <a:p>
            <a:pPr marL="0" indent="0">
              <a:buNone/>
            </a:pPr>
            <a:r>
              <a:rPr lang="zh-TW" altLang="en-US" sz="1800" b="0" kern="0" dirty="0">
                <a:solidFill>
                  <a:srgbClr val="002060"/>
                </a:solidFill>
                <a:latin typeface="+mn-ea"/>
              </a:rPr>
              <a:t>　 </a:t>
            </a:r>
            <a:r>
              <a:rPr lang="zh-TW" altLang="en-US" sz="1800" b="0" kern="0" dirty="0" smtClean="0">
                <a:solidFill>
                  <a:srgbClr val="002060"/>
                </a:solidFill>
                <a:latin typeface="+mn-ea"/>
              </a:rPr>
              <a:t> 　　　　　　　</a:t>
            </a:r>
            <a:r>
              <a:rPr lang="zh-TW" altLang="en-US" sz="1800" b="0" kern="0" dirty="0">
                <a:solidFill>
                  <a:srgbClr val="002060"/>
                </a:solidFill>
                <a:latin typeface="+mn-ea"/>
              </a:rPr>
              <a:t>　</a:t>
            </a:r>
            <a:r>
              <a:rPr lang="en-US" altLang="zh-TW" sz="1800" b="0" kern="0" dirty="0" smtClean="0">
                <a:solidFill>
                  <a:srgbClr val="002060"/>
                </a:solidFill>
                <a:latin typeface="+mn-ea"/>
              </a:rPr>
              <a:t>  </a:t>
            </a:r>
            <a:endParaRPr lang="zh-TW" altLang="en-US" sz="1800" b="0" kern="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276173" y="5982548"/>
            <a:ext cx="2070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kern="0" dirty="0" smtClean="0">
                <a:solidFill>
                  <a:srgbClr val="002060"/>
                </a:solidFill>
              </a:rPr>
              <a:t>（依</a:t>
            </a:r>
            <a:r>
              <a:rPr lang="zh-TW" altLang="en-US" sz="1600" kern="0" dirty="0">
                <a:solidFill>
                  <a:srgbClr val="002060"/>
                </a:solidFill>
              </a:rPr>
              <a:t>姓氏筆劃</a:t>
            </a:r>
            <a:r>
              <a:rPr lang="zh-TW" altLang="en-US" sz="1600" kern="0" dirty="0" smtClean="0">
                <a:solidFill>
                  <a:srgbClr val="002060"/>
                </a:solidFill>
              </a:rPr>
              <a:t>排序）</a:t>
            </a:r>
            <a:endParaRPr lang="zh-TW" altLang="en-US" sz="1600" dirty="0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0" y="59288"/>
            <a:ext cx="8229600" cy="8903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TW" altLang="en-US" sz="36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介紹本</a:t>
            </a:r>
            <a:r>
              <a:rPr lang="zh-TW" altLang="en-US" sz="36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會諮詢小組</a:t>
            </a:r>
            <a:r>
              <a:rPr lang="zh-TW" altLang="en-US" sz="3600" b="1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成員</a:t>
            </a:r>
            <a:endParaRPr lang="zh-TW" altLang="en-US" sz="3600" b="1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6841544" y="771368"/>
            <a:ext cx="2173960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P.3-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18281" y="5989301"/>
            <a:ext cx="42017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任期自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106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29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日起至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107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zh-TW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止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040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440130"/>
              </p:ext>
            </p:extLst>
          </p:nvPr>
        </p:nvGraphicFramePr>
        <p:xfrm>
          <a:off x="179512" y="1052737"/>
          <a:ext cx="8712968" cy="49034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040560"/>
                <a:gridCol w="3672408"/>
              </a:tblGrid>
              <a:tr h="4613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前次</a:t>
                      </a:r>
                      <a:r>
                        <a:rPr lang="zh-TW" altLang="zh-TW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會議決議</a:t>
                      </a:r>
                      <a:r>
                        <a:rPr lang="zh-TW" alt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摘要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辦理情形說明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</a:tr>
              <a:tr h="16989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ahoma" panose="020B0604030504040204" pitchFamily="34" charset="0"/>
                        </a:rPr>
                        <a:t>社發處資料集「國土及公共治理季刊電子報訂閱人數」一項，與已開放之「國土及公共治理季刊資訊」詮釋資料欄位多有重複，為免有切割之疑慮，請予以整併，不另增資料集。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已遵照辦理，進行整併。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7396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本會諮詢委員名單，提供委員聯絡方式，本會並設立聯繫窗口</a:t>
                      </a: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宋體"/>
                        </a:rPr>
                        <a:t>(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袁小姐，電話：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23165300#6866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，電子郵件信箱：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ysl@ndc.gov.tw)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宋體"/>
                        </a:rPr>
                        <a:t>，俾利委員即時反應相關問題。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本年度諮詢委員名單及聯絡方式業開放於政府資料開放平臺。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464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105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年度達成開放數量目標且兼顧資料品質者，計有產業處、人力處、法協中心、秘書室、人事室、主計室六個單位，同意各敍嘉奬一次，以資鼓勵。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altLang="zh-TW" sz="20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已遵照辦理</a:t>
                      </a:r>
                      <a:r>
                        <a:rPr lang="zh-TW" sz="20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12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-19640" y="23591"/>
            <a:ext cx="9163640" cy="7780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貮、歷次</a:t>
            </a:r>
            <a:r>
              <a:rPr lang="zh-TW" altLang="zh-TW" kern="0" dirty="0" smtClean="0">
                <a:latin typeface="標楷體" pitchFamily="65" charset="-120"/>
                <a:ea typeface="標楷體" pitchFamily="65" charset="-120"/>
              </a:rPr>
              <a:t>會議決議事項辦理情形</a:t>
            </a:r>
            <a:r>
              <a:rPr lang="en-US" altLang="zh-TW" kern="0" dirty="0" smtClean="0">
                <a:latin typeface="標楷體" pitchFamily="65" charset="-120"/>
                <a:ea typeface="標楷體" pitchFamily="65" charset="-120"/>
              </a:rPr>
              <a:t>(1/2)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7033992" y="634973"/>
            <a:ext cx="2016224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P.4)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396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84421"/>
              </p:ext>
            </p:extLst>
          </p:nvPr>
        </p:nvGraphicFramePr>
        <p:xfrm>
          <a:off x="179512" y="1052737"/>
          <a:ext cx="8712968" cy="53318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248472"/>
                <a:gridCol w="4464496"/>
              </a:tblGrid>
              <a:tr h="4539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前次</a:t>
                      </a:r>
                      <a:r>
                        <a:rPr lang="zh-TW" altLang="zh-TW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會議決議</a:t>
                      </a:r>
                      <a:r>
                        <a:rPr lang="zh-TW" alt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摘要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b="1" kern="1200" dirty="0" smtClean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辦理情形說明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</a:tr>
              <a:tr h="13882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未來資料開放績效考核的評分方式及考核指標，請參採委員提供之意見調整。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擬具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年資料開放績效考核敍獎及評分原則，並經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年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月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日本會資訊業務工作小組會議討論，擬提報本小組同意後據以辦理。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詳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P.23</a:t>
                      </a:r>
                      <a:r>
                        <a:rPr lang="zh-TW" sz="20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討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論事項一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15436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106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年預訂開放</a:t>
                      </a:r>
                      <a:r>
                        <a:rPr lang="zh-TW" sz="20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項目請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各單位據以排定開放時程，納入各季盤點作業，並請未達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106</a:t>
                      </a: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年目標值的單位參考委員建議方向再深入盤點，以縮小與目標值之差距。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各單位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年預訂開放項目皆已納入本次盤點結果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詳討論事項二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，已達本會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106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年目標值</a:t>
                      </a: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480</a:t>
                      </a: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項。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312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通過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106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年第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季盤點之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21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項資料開放，請各單位辦理後續登錄上架等相關事宜。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全數已完成登錄上架。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1011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本會資料開放行動策略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依委員意見文字修正後通過。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已依委員意見修正並函送各單位據以辦理，同時開放於政府資料開放平臺。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13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-19640" y="23591"/>
            <a:ext cx="9163640" cy="77809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貮、歷次</a:t>
            </a:r>
            <a:r>
              <a:rPr lang="zh-TW" altLang="zh-TW" kern="0" dirty="0" smtClean="0">
                <a:latin typeface="標楷體" pitchFamily="65" charset="-120"/>
                <a:ea typeface="標楷體" pitchFamily="65" charset="-120"/>
              </a:rPr>
              <a:t>會議決議事項辦理情形</a:t>
            </a:r>
            <a:r>
              <a:rPr lang="en-US" altLang="zh-TW" kern="0" dirty="0" smtClean="0">
                <a:latin typeface="標楷體" pitchFamily="65" charset="-120"/>
                <a:ea typeface="標楷體" pitchFamily="65" charset="-120"/>
              </a:rPr>
              <a:t>(2/2)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418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14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05678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參、本會資料開放推動現況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755576" y="1988840"/>
            <a:ext cx="8125777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901700" indent="-9017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一、本會於政府資料開放平臺開放情形</a:t>
            </a:r>
            <a:endParaRPr lang="en-US" altLang="zh-TW" sz="3600" u="sng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二、前次會議至今執行成果</a:t>
            </a:r>
            <a:endParaRPr lang="en-US" altLang="zh-TW" sz="3600" kern="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三、</a:t>
            </a:r>
            <a:r>
              <a:rPr lang="zh-TW" altLang="zh-TW" sz="3600" kern="100" dirty="0" smtClean="0">
                <a:latin typeface="Times New Roman"/>
                <a:ea typeface="標楷體"/>
                <a:cs typeface="Times New Roman"/>
              </a:rPr>
              <a:t>本</a:t>
            </a:r>
            <a:r>
              <a:rPr lang="zh-TW" altLang="zh-TW" sz="3600" kern="100" dirty="0">
                <a:latin typeface="Times New Roman"/>
                <a:ea typeface="標楷體"/>
                <a:cs typeface="Times New Roman"/>
              </a:rPr>
              <a:t>會目前資料開放情形總覽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80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314184" cy="764704"/>
          </a:xfrm>
        </p:spPr>
        <p:txBody>
          <a:bodyPr/>
          <a:lstStyle/>
          <a:p>
            <a:pPr algn="l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一、本會於政府資料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(1/10)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15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67544" y="656904"/>
            <a:ext cx="4392488" cy="6838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集已開放部分</a:t>
            </a: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5436096" y="734784"/>
            <a:ext cx="3614120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詳附件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1-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已開放資料集清冊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圖表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757726"/>
              </p:ext>
            </p:extLst>
          </p:nvPr>
        </p:nvGraphicFramePr>
        <p:xfrm>
          <a:off x="683568" y="1152548"/>
          <a:ext cx="8136904" cy="5228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2672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386192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(2/10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16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95536" y="656904"/>
            <a:ext cx="4464496" cy="6838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集已開放部分</a:t>
            </a: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5797868" y="600636"/>
            <a:ext cx="2408293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P.6/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797868" y="1011396"/>
            <a:ext cx="2340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統計日期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:106.9.2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492" y="1421608"/>
            <a:ext cx="6225896" cy="48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8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17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23528" y="656903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資料集瀏覽情形</a:t>
            </a:r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一、本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(3/10)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592923" y="1213258"/>
            <a:ext cx="245729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統計日期</a:t>
            </a:r>
            <a:r>
              <a:rPr lang="en-US" altLang="zh-TW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:106.9.2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20596"/>
              </p:ext>
            </p:extLst>
          </p:nvPr>
        </p:nvGraphicFramePr>
        <p:xfrm>
          <a:off x="539552" y="1650469"/>
          <a:ext cx="8208912" cy="4725963"/>
        </p:xfrm>
        <a:graphic>
          <a:graphicData uri="http://schemas.openxmlformats.org/drawingml/2006/table">
            <a:tbl>
              <a:tblPr/>
              <a:tblGrid>
                <a:gridCol w="723046"/>
                <a:gridCol w="6333738"/>
                <a:gridCol w="1152128"/>
              </a:tblGrid>
              <a:tr h="626403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本會排名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資料集名稱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全部資料集排名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CNS11643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中文標準交換碼全字庫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簡稱全字庫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iTaiwan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中央行政機關室內公共區域免費無線上網熱點查詢服務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政府資料開放平臺資料集清單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公文電子交換系統地址簿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48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景氣指標及燈號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政府機關唯一識別代碼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(OID)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199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行政院公報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220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數位機會調查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348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都市及區域發展統計彙編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404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6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人口推計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425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標題 1"/>
          <p:cNvSpPr txBox="1">
            <a:spLocks/>
          </p:cNvSpPr>
          <p:nvPr/>
        </p:nvSpPr>
        <p:spPr>
          <a:xfrm>
            <a:off x="6817968" y="735141"/>
            <a:ext cx="2232248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P.7/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394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18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一、本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(4/10)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563772" y="1216366"/>
            <a:ext cx="22379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統計日期</a:t>
            </a:r>
            <a:r>
              <a:rPr lang="en-US" altLang="zh-TW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:106.9.2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38132"/>
              </p:ext>
            </p:extLst>
          </p:nvPr>
        </p:nvGraphicFramePr>
        <p:xfrm>
          <a:off x="488147" y="1616476"/>
          <a:ext cx="8208911" cy="4759956"/>
        </p:xfrm>
        <a:graphic>
          <a:graphicData uri="http://schemas.openxmlformats.org/drawingml/2006/table">
            <a:tbl>
              <a:tblPr/>
              <a:tblGrid>
                <a:gridCol w="716758"/>
                <a:gridCol w="6319423"/>
                <a:gridCol w="1172730"/>
              </a:tblGrid>
              <a:tr h="660396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本會排名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資料集名稱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20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全部資料集排名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政府資料開放平臺資料集瀏覽及下載次數統計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19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政府資料開放平臺資料集清單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67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CNS11643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中文標準交換碼全字庫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簡稱全字庫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69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70596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2400" b="0" i="0" u="none" strike="noStrike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iTaiwan</a:t>
                      </a:r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中央行政機關室內公共區域免費無線上網熱點查詢服務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機關施政績效評估報告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公文電子交換系統地址簿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政府機關唯一識別代碼</a:t>
                      </a:r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(OID)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162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數位機會調查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231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景氣指標及燈號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248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3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行政院公報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400" b="0" i="0" u="none" strike="noStrike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標題 1"/>
          <p:cNvSpPr txBox="1">
            <a:spLocks/>
          </p:cNvSpPr>
          <p:nvPr/>
        </p:nvSpPr>
        <p:spPr>
          <a:xfrm>
            <a:off x="323528" y="656903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資料集下載情形</a:t>
            </a: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6817968" y="735141"/>
            <a:ext cx="2232248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P.8/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73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19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560156" y="578266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-1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(5/10)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3391"/>
              </p:ext>
            </p:extLst>
          </p:nvPr>
        </p:nvGraphicFramePr>
        <p:xfrm>
          <a:off x="560156" y="1557531"/>
          <a:ext cx="8136000" cy="4786197"/>
        </p:xfrm>
        <a:graphic>
          <a:graphicData uri="http://schemas.openxmlformats.org/drawingml/2006/table">
            <a:tbl>
              <a:tblPr/>
              <a:tblGrid>
                <a:gridCol w="863998"/>
                <a:gridCol w="4104001"/>
                <a:gridCol w="3168001"/>
              </a:tblGrid>
              <a:tr h="387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4792" marR="4792" marT="479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86628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　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 smtClea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國土處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「都市區域統計彙編 ─ 公路長度與面積」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建議可細分到鄉鎮市區的資料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本項係彙編交通部公路總局統計資料係彙編年報而得，可至交通部公路總局網站之新聞及公告資訊項下查詢。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447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　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「政府機關電腦應用概況」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尚無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104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年政府機關電腦應用概況，可以提供嗎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?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因政府機關組織改造及地方政府升格等因素影響，本會正規劃進行調查系統改版，希可配合於組改完成後再持續進行相關資訊的蒐集與統計。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6732240" y="1020334"/>
            <a:ext cx="2232248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P.10/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173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20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513807" y="600071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-2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(6/10)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590848"/>
              </p:ext>
            </p:extLst>
          </p:nvPr>
        </p:nvGraphicFramePr>
        <p:xfrm>
          <a:off x="560156" y="1557531"/>
          <a:ext cx="8136902" cy="4420437"/>
        </p:xfrm>
        <a:graphic>
          <a:graphicData uri="http://schemas.openxmlformats.org/drawingml/2006/table">
            <a:tbl>
              <a:tblPr/>
              <a:tblGrid>
                <a:gridCol w="864094"/>
                <a:gridCol w="4104456"/>
                <a:gridCol w="3168352"/>
              </a:tblGrid>
              <a:tr h="387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4792" marR="4792" marT="479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86628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　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 smtClea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檔案局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「公文電子交換系統地址簿」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提供資料欄位過少，請再提供地址等欄位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交換作業係透過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IP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位址傳遞公文，並非地址郵寄。所需之機關地址，請至人事行政總處之資料集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(node7307)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下載。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447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　</a:t>
                      </a: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 smtClea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人力處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「人口及人才相關政策會報會議紀錄」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建議更新行政院人口政策會報之會議記錄與標題名稱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除調整資料集名稱為「人口及人才相關政策會報會議紀錄」，亦將持續於本資料集內新增最新人口及人才相關政策會報會議紀錄。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792" marR="4792" marT="47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6732240" y="1020334"/>
            <a:ext cx="2232248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P.11/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70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21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46856" y="637982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-3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(7/10)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5859"/>
              </p:ext>
            </p:extLst>
          </p:nvPr>
        </p:nvGraphicFramePr>
        <p:xfrm>
          <a:off x="611560" y="1438098"/>
          <a:ext cx="8064896" cy="3960882"/>
        </p:xfrm>
        <a:graphic>
          <a:graphicData uri="http://schemas.openxmlformats.org/drawingml/2006/table">
            <a:tbl>
              <a:tblPr/>
              <a:tblGrid>
                <a:gridCol w="886803"/>
                <a:gridCol w="3721709"/>
                <a:gridCol w="3456384"/>
              </a:tblGrid>
              <a:tr h="382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5107" marR="5107" marT="510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122498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內容有誤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 smtClea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262699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「開放平臺資料集清單」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下載頁面出現錯誤</a:t>
                      </a:r>
                      <a:endParaRPr lang="zh-TW" altLang="en-US" sz="2400" b="0" i="0" u="none" strike="noStrike" dirty="0">
                        <a:solidFill>
                          <a:srgbClr val="7F45AA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下載連結已修復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719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內容有誤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1165225" indent="-1165225" algn="l" rtl="0" fontAlgn="t"/>
                      <a:r>
                        <a:rPr lang="zh-TW" altLang="en-US" sz="2400" b="0" i="0" u="none" strike="noStrike" dirty="0" smtClea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「政府資料開放諮詢小組委員名單」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委員名單請更新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本資料集僅保留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104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年諮詢小組名單供各界參閱。已另設諮詢小組專區提供委員名單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33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內容有誤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iTaiwan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熱點」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error 404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at </a:t>
                      </a:r>
                      <a:r>
                        <a:rPr lang="en-US" altLang="zh-TW" sz="2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json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已修復檔案連結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標題 1"/>
          <p:cNvSpPr txBox="1">
            <a:spLocks/>
          </p:cNvSpPr>
          <p:nvPr/>
        </p:nvSpPr>
        <p:spPr>
          <a:xfrm>
            <a:off x="6677980" y="984922"/>
            <a:ext cx="2232248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P.13/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30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22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46856" y="571877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-4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(8/10)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36380"/>
              </p:ext>
            </p:extLst>
          </p:nvPr>
        </p:nvGraphicFramePr>
        <p:xfrm>
          <a:off x="611560" y="1438098"/>
          <a:ext cx="8064896" cy="4055338"/>
        </p:xfrm>
        <a:graphic>
          <a:graphicData uri="http://schemas.openxmlformats.org/drawingml/2006/table">
            <a:tbl>
              <a:tblPr/>
              <a:tblGrid>
                <a:gridCol w="886803"/>
                <a:gridCol w="3721709"/>
                <a:gridCol w="3456384"/>
              </a:tblGrid>
              <a:tr h="382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5107" marR="5107" marT="510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873718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內容有誤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「政府入口網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福利補助」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資料集相關網址有錯誤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網址已更新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568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內容有誤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「電子交換地址簿」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近期交換簿無法下載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係因該連結已修正為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http://data.gov.tw/node/7617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，請至該網頁之資料資源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CSV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下載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9568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疑問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7F45AA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檔案局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262699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「電子交換地址簿」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電子公文收件疑問</a:t>
                      </a:r>
                      <a:endParaRPr lang="zh-TW" altLang="en-US" sz="2400" b="0" i="0" u="none" strike="noStrike" dirty="0" smtClean="0">
                        <a:solidFill>
                          <a:srgbClr val="7F45AA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建請洽詢公文電子交換網路系統查詢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標題 1"/>
          <p:cNvSpPr txBox="1">
            <a:spLocks/>
          </p:cNvSpPr>
          <p:nvPr/>
        </p:nvSpPr>
        <p:spPr>
          <a:xfrm>
            <a:off x="6156176" y="1020334"/>
            <a:ext cx="2808312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P.13-14/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206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23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83130" y="657048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-5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(9/10)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06493"/>
              </p:ext>
            </p:extLst>
          </p:nvPr>
        </p:nvGraphicFramePr>
        <p:xfrm>
          <a:off x="611560" y="1438098"/>
          <a:ext cx="8064896" cy="4177935"/>
        </p:xfrm>
        <a:graphic>
          <a:graphicData uri="http://schemas.openxmlformats.org/drawingml/2006/table">
            <a:tbl>
              <a:tblPr/>
              <a:tblGrid>
                <a:gridCol w="886803"/>
                <a:gridCol w="3721709"/>
                <a:gridCol w="3456384"/>
              </a:tblGrid>
              <a:tr h="382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5107" marR="5107" marT="510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122498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使用疑問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7F45AA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262699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「全字庫」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請問全字庫的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U+3EEB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與教育部的寫法不同的問題</a:t>
                      </a:r>
                      <a:endParaRPr lang="zh-TW" altLang="en-US" sz="2400" b="0" i="0" u="none" strike="noStrike" dirty="0">
                        <a:solidFill>
                          <a:srgbClr val="7F45AA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部件資料已完成修正，另有關教育部的字型問題，將與該部連繫查證。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719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使用疑問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7F45AA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262699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「全字庫」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關於全字庫的兩個問題，不確定是全字庫正確還是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Unicode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正確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已回復並修正完成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334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使用疑問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「全字庫」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第一個問題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OK</a:t>
                      </a: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第二個問題部份有點疑問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相關資訊已調整完成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標題 1"/>
          <p:cNvSpPr txBox="1">
            <a:spLocks/>
          </p:cNvSpPr>
          <p:nvPr/>
        </p:nvSpPr>
        <p:spPr>
          <a:xfrm>
            <a:off x="6156176" y="1020334"/>
            <a:ext cx="2808312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P.14-17/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46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24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67458" y="545579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互動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專區民眾意見回應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-6</a:t>
            </a:r>
          </a:p>
          <a:p>
            <a:pPr algn="l"/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764704"/>
          </a:xfrm>
        </p:spPr>
        <p:txBody>
          <a:bodyPr/>
          <a:lstStyle/>
          <a:p>
            <a:pPr algn="l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一、本會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於政府資料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開放平臺開放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(10/10)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75676"/>
              </p:ext>
            </p:extLst>
          </p:nvPr>
        </p:nvGraphicFramePr>
        <p:xfrm>
          <a:off x="611560" y="1438098"/>
          <a:ext cx="8064896" cy="3684471"/>
        </p:xfrm>
        <a:graphic>
          <a:graphicData uri="http://schemas.openxmlformats.org/drawingml/2006/table">
            <a:tbl>
              <a:tblPr/>
              <a:tblGrid>
                <a:gridCol w="886803"/>
                <a:gridCol w="3721709"/>
                <a:gridCol w="3456384"/>
              </a:tblGrid>
              <a:tr h="38241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內容摘要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處理情形</a:t>
                      </a:r>
                    </a:p>
                  </a:txBody>
                  <a:tcPr marL="5107" marR="5107" marT="510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99"/>
                    </a:solidFill>
                  </a:tcPr>
                </a:tc>
              </a:tr>
              <a:tr h="873718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使用疑問</a:t>
                      </a: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「全字庫」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輸入時不是找不到該字，或出現字體欄位全黑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本平臺未提供軟體，不了解您指的是那一軟體及作業系統？請參考全字庫網頁，或</a:t>
                      </a:r>
                      <a:r>
                        <a:rPr lang="en-US" altLang="zh-TW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Email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至客服信箱或來電洽詢，將有更詳盡的回覆。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568">
                <a:tc>
                  <a:txBody>
                    <a:bodyPr/>
                    <a:lstStyle/>
                    <a:p>
                      <a:pPr algn="ctr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其他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1076325" indent="-1076325" algn="l" rtl="0" fontAlgn="t"/>
                      <a:r>
                        <a:rPr lang="zh-TW" altLang="en-US" sz="2400" b="0" i="0" u="none" strike="noStrike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資管處</a:t>
                      </a: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altLang="en-US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「行政院資料開放諮詢小組會議紀錄」</a:t>
                      </a:r>
                      <a:endParaRPr lang="en-US" altLang="zh-TW" sz="2400" b="0" i="0" u="none" strike="noStrike" dirty="0" smtClean="0">
                        <a:solidFill>
                          <a:srgbClr val="0070C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感謝</a:t>
                      </a:r>
                      <a:endParaRPr lang="zh-TW" altLang="en-US" sz="2400" b="0" i="0" u="none" strike="noStrike" dirty="0">
                        <a:solidFill>
                          <a:srgbClr val="7030A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zh-TW" alt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謝謝您對政府資料開放之支持與關心，祝您身體健康一切如意。</a:t>
                      </a:r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107" marR="5107" marT="5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標題 1"/>
          <p:cNvSpPr txBox="1">
            <a:spLocks/>
          </p:cNvSpPr>
          <p:nvPr/>
        </p:nvSpPr>
        <p:spPr>
          <a:xfrm>
            <a:off x="6313912" y="956427"/>
            <a:ext cx="2736304" cy="41776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詳議程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P.18-19/</a:t>
            </a:r>
            <a:r>
              <a:rPr lang="zh-TW" altLang="en-US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5)</a:t>
            </a:r>
            <a:endParaRPr lang="zh-TW" altLang="en-US" sz="20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19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25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05678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參、本會資料開放推動現況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755576" y="1988840"/>
            <a:ext cx="8125777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901700" indent="-9017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一、本</a:t>
            </a:r>
            <a:r>
              <a:rPr lang="zh-TW" altLang="en-US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會於政府資料開放平臺開放情形</a:t>
            </a:r>
            <a:endParaRPr lang="en-US" altLang="zh-TW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u="sng" kern="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二、前次會議至今執行成果</a:t>
            </a:r>
            <a:endParaRPr lang="en-US" altLang="zh-TW" sz="3600" u="sng" kern="0" dirty="0" smtClean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三、</a:t>
            </a:r>
            <a:r>
              <a:rPr lang="zh-TW" altLang="zh-TW" sz="3600" kern="100" dirty="0" smtClean="0">
                <a:latin typeface="Times New Roman"/>
                <a:ea typeface="標楷體"/>
                <a:cs typeface="Times New Roman"/>
              </a:rPr>
              <a:t>本</a:t>
            </a:r>
            <a:r>
              <a:rPr lang="zh-TW" altLang="zh-TW" sz="3600" kern="100" dirty="0">
                <a:latin typeface="Times New Roman"/>
                <a:ea typeface="標楷體"/>
                <a:cs typeface="Times New Roman"/>
              </a:rPr>
              <a:t>會目前資料開放情形總覽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453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26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683568" y="651604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辦理教育訓練</a:t>
            </a:r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492848"/>
              </p:ext>
            </p:extLst>
          </p:nvPr>
        </p:nvGraphicFramePr>
        <p:xfrm>
          <a:off x="-29800" y="1536046"/>
          <a:ext cx="7704856" cy="478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431374" y="5065714"/>
            <a:ext cx="3618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符合品質檢測系統標準</a:t>
            </a:r>
            <a:endParaRPr lang="en-US" altLang="zh-TW" sz="2400" dirty="0" smtClean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改善資料品質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322129" y="3805662"/>
            <a:ext cx="3415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「資料集品質提升作法與說明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」教育訓練</a:t>
            </a:r>
            <a:endParaRPr lang="zh-TW" altLang="en-US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860032" y="2575120"/>
            <a:ext cx="2642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業務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窗口</a:t>
            </a:r>
            <a:endParaRPr lang="en-US" altLang="zh-TW" sz="2400" dirty="0" smtClean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資料集提供者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165162" y="1553493"/>
            <a:ext cx="2642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23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en-US" altLang="zh-TW" sz="2400" dirty="0" smtClean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26</a:t>
            </a:r>
            <a:r>
              <a:rPr lang="zh-TW" altLang="en-US" sz="2400" dirty="0" smtClean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0344" y="0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、前次會議至今執行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成果</a:t>
            </a:r>
            <a: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(1/2)</a:t>
            </a:r>
            <a:endParaRPr lang="zh-TW" altLang="en-US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212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8229600" cy="1143000"/>
          </a:xfrm>
        </p:spPr>
        <p:txBody>
          <a:bodyPr/>
          <a:lstStyle/>
          <a:p>
            <a:pPr algn="l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二、</a:t>
            </a:r>
            <a:r>
              <a:rPr lang="zh-TW" altLang="en-US" dirty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前次會議至今執行</a:t>
            </a:r>
            <a:r>
              <a:rPr lang="zh-TW" altLang="en-US" dirty="0" smtClean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成果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(2/2)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27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611560" y="645712"/>
            <a:ext cx="82296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3200" kern="0" dirty="0" smtClean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kern="0" dirty="0" smtClean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3200" kern="0" dirty="0" smtClean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開放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項目執行情形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115616" y="1538499"/>
            <a:ext cx="7000092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年第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季盤點項目經本小組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日會議決議開放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21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項，已全數登錄上架完竣。</a:t>
            </a:r>
            <a:endParaRPr lang="zh-TW" altLang="en-US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408463"/>
              </p:ext>
            </p:extLst>
          </p:nvPr>
        </p:nvGraphicFramePr>
        <p:xfrm>
          <a:off x="1892896" y="2636912"/>
          <a:ext cx="4464496" cy="3456384"/>
        </p:xfrm>
        <a:graphic>
          <a:graphicData uri="http://schemas.openxmlformats.org/drawingml/2006/table">
            <a:tbl>
              <a:tblPr/>
              <a:tblGrid>
                <a:gridCol w="2507457"/>
                <a:gridCol w="1957039"/>
              </a:tblGrid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小計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檔案局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綜規處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社發處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產業處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管考處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法協中心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政風室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55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28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043608" y="476672"/>
            <a:ext cx="705678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參、本會資料開放推動現況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694723" y="1988840"/>
            <a:ext cx="8125777" cy="367240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901700" indent="-9017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一、本</a:t>
            </a:r>
            <a:r>
              <a:rPr lang="zh-TW" altLang="en-US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會於政府資料開放平臺開放情形</a:t>
            </a:r>
            <a:endParaRPr lang="en-US" altLang="zh-TW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二、前次會議至今執行</a:t>
            </a: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成果</a:t>
            </a:r>
            <a:endParaRPr lang="en-US" altLang="zh-TW" sz="3600" kern="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三、</a:t>
            </a:r>
            <a:r>
              <a:rPr lang="zh-TW" altLang="zh-TW" sz="3600" u="sng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</a:t>
            </a:r>
            <a:r>
              <a:rPr lang="zh-TW" altLang="zh-TW" sz="3600" u="sng" kern="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會目前資料開放情形總覽</a:t>
            </a:r>
            <a:endParaRPr lang="zh-TW" altLang="en-US" sz="3600" u="sng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793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44" y="0"/>
            <a:ext cx="9133656" cy="1143000"/>
          </a:xfrm>
        </p:spPr>
        <p:txBody>
          <a:bodyPr/>
          <a:lstStyle/>
          <a:p>
            <a:pPr algn="l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三、本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會目前資料開放情形總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覽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29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673952" y="781501"/>
            <a:ext cx="23762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（詳議程</a:t>
            </a:r>
            <a:r>
              <a:rPr lang="en-US" altLang="zh-TW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P.20/</a:t>
            </a:r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6)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1273" y="1500047"/>
            <a:ext cx="83666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本會截至目前為止已開放</a:t>
            </a:r>
            <a:r>
              <a:rPr lang="en-US" altLang="zh-TW" sz="2800" dirty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412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項，距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年累計開放指標應達成</a:t>
            </a:r>
            <a:r>
              <a:rPr lang="en-US" altLang="zh-TW" sz="2800" dirty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480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項，尚缺</a:t>
            </a:r>
            <a:r>
              <a:rPr lang="en-US" altLang="zh-TW" sz="2800" dirty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68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項，達成率為</a:t>
            </a:r>
            <a:r>
              <a:rPr lang="en-US" altLang="zh-TW" sz="2800" dirty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85.8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%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。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本次議程討論事項二之擬</a:t>
            </a:r>
            <a:r>
              <a:rPr lang="zh-TW" altLang="en-US" sz="2800" kern="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新增</a:t>
            </a:r>
            <a:r>
              <a:rPr lang="zh-TW" altLang="en-US" sz="2800" kern="100" dirty="0">
                <a:latin typeface="標楷體" panose="03000509000000000000" pitchFamily="65" charset="-120"/>
                <a:ea typeface="標楷體" panose="03000509000000000000" pitchFamily="65" charset="-120"/>
              </a:rPr>
              <a:t>開放項</a:t>
            </a:r>
            <a:r>
              <a:rPr lang="zh-TW" altLang="en-US" sz="2800" kern="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數決議通過後，累計開放項數將可達本年度開放指標。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676044"/>
              </p:ext>
            </p:extLst>
          </p:nvPr>
        </p:nvGraphicFramePr>
        <p:xfrm>
          <a:off x="567001" y="3645025"/>
          <a:ext cx="8280920" cy="2810374"/>
        </p:xfrm>
        <a:graphic>
          <a:graphicData uri="http://schemas.openxmlformats.org/drawingml/2006/table">
            <a:tbl>
              <a:tblPr firstRow="1" firstCol="1" bandRow="1"/>
              <a:tblGrid>
                <a:gridCol w="883008"/>
                <a:gridCol w="1296144"/>
                <a:gridCol w="1296144"/>
                <a:gridCol w="1296144"/>
                <a:gridCol w="1888040"/>
                <a:gridCol w="1621440"/>
              </a:tblGrid>
              <a:tr h="20473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截至目前已開放項數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(A)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106</a:t>
                      </a: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年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累計開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放指標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(B)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與</a:t>
                      </a:r>
                      <a:r>
                        <a:rPr lang="en-US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106</a:t>
                      </a: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年指標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差距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(A-B)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本次盤點</a:t>
                      </a:r>
                      <a:r>
                        <a:rPr lang="en-US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/>
                      </a:r>
                      <a:br>
                        <a:rPr lang="en-US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</a:br>
                      <a:r>
                        <a:rPr lang="zh-TW" sz="24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擬</a:t>
                      </a: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新增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開放項數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400" kern="100" dirty="0" smtClea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本次盤點決議通過後累計開放項數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3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b="1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小計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</a:rPr>
                        <a:t>412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480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</a:rPr>
                        <a:t>-68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TW" sz="2400" b="1" kern="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75</a:t>
                      </a:r>
                      <a:endParaRPr lang="zh-TW" sz="2400" b="1" kern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TW" sz="2400" b="1" kern="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487</a:t>
                      </a:r>
                      <a:endParaRPr lang="zh-TW" sz="2400" b="1" kern="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108765"/>
              </p:ext>
            </p:extLst>
          </p:nvPr>
        </p:nvGraphicFramePr>
        <p:xfrm>
          <a:off x="1403648" y="3590991"/>
          <a:ext cx="3960440" cy="2864408"/>
        </p:xfrm>
        <a:graphic>
          <a:graphicData uri="http://schemas.openxmlformats.org/drawingml/2006/table">
            <a:tbl>
              <a:tblPr/>
              <a:tblGrid>
                <a:gridCol w="3960440"/>
              </a:tblGrid>
              <a:tr h="286440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57150" cmpd="sng">
                      <a:solidFill>
                        <a:srgbClr val="8D06D8"/>
                      </a:solidFill>
                      <a:prstDash val="sysDash"/>
                    </a:lnL>
                    <a:lnR w="57150" cmpd="sng">
                      <a:solidFill>
                        <a:srgbClr val="8D06D8"/>
                      </a:solidFill>
                      <a:prstDash val="sysDash"/>
                    </a:lnR>
                    <a:lnT w="57150" cmpd="sng">
                      <a:solidFill>
                        <a:srgbClr val="8D06D8"/>
                      </a:solidFill>
                      <a:prstDash val="sysDash"/>
                    </a:lnT>
                    <a:lnB w="57150" cmpd="sng">
                      <a:solidFill>
                        <a:srgbClr val="8D06D8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55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30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771800" y="1556792"/>
            <a:ext cx="4320480" cy="100811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肆、報告事項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539552" y="2564904"/>
            <a:ext cx="7992888" cy="334250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1346200" indent="-1346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u="sng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次政府</a:t>
            </a:r>
            <a:r>
              <a:rPr lang="zh-TW" altLang="en-US" sz="3600" u="sng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資料品質檢測</a:t>
            </a: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結果</a:t>
            </a:r>
            <a:endParaRPr lang="en-US" altLang="zh-TW" sz="3600" u="sng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248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004" y="57918"/>
            <a:ext cx="9036673" cy="1120642"/>
          </a:xfrm>
        </p:spPr>
        <p:txBody>
          <a:bodyPr/>
          <a:lstStyle/>
          <a:p>
            <a:pPr marL="984250" indent="-984250" algn="l"/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年第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次政府資料品質檢測</a:t>
            </a:r>
            <a:r>
              <a:rPr lang="zh-TW" altLang="en-US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結果</a:t>
            </a:r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(1/4)</a:t>
            </a:r>
            <a:endParaRPr lang="zh-TW" altLang="en-US" sz="3800" dirty="0"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576" y="1827564"/>
            <a:ext cx="8208912" cy="4707638"/>
          </a:xfrm>
        </p:spPr>
        <p:txBody>
          <a:bodyPr/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檢測時間</a:t>
            </a:r>
            <a:r>
              <a:rPr lang="zh-TW" altLang="en-US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29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日。</a:t>
            </a:r>
          </a:p>
          <a:p>
            <a:pPr marL="447675" indent="-447675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檢測範圍：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104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日起至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止 發布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之資料集。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檢測項目</a:t>
            </a:r>
            <a:r>
              <a:rPr lang="en-US" altLang="zh-TW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en-US" altLang="zh-TW" dirty="0">
              <a:solidFill>
                <a:srgbClr val="A828A8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6302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檔案連接有效性</a:t>
            </a:r>
          </a:p>
          <a:p>
            <a:pPr marL="6302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是否能直接下載</a:t>
            </a:r>
          </a:p>
          <a:p>
            <a:pPr marL="6302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檔案編碼是否合格</a:t>
            </a:r>
          </a:p>
          <a:p>
            <a:pPr marL="6302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主要欄位是否合格</a:t>
            </a:r>
          </a:p>
          <a:p>
            <a:pPr marL="6302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檔案結構化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31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048880" y="742686"/>
            <a:ext cx="316627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議程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P.21/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報告事項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827584" y="1142796"/>
            <a:ext cx="2448272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檢測內容</a:t>
            </a:r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694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004" y="57918"/>
            <a:ext cx="9036673" cy="1143000"/>
          </a:xfrm>
        </p:spPr>
        <p:txBody>
          <a:bodyPr/>
          <a:lstStyle/>
          <a:p>
            <a:pPr marL="984250" indent="-984250" algn="l"/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年第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次政府資料品質檢測</a:t>
            </a:r>
            <a:r>
              <a:rPr lang="zh-TW" altLang="en-US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結果</a:t>
            </a:r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(2/4)</a:t>
            </a:r>
            <a:endParaRPr lang="zh-TW" altLang="en-US" sz="3800" dirty="0"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32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228185" y="807952"/>
            <a:ext cx="282203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議程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P.21)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712225" y="1174848"/>
            <a:ext cx="6912768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>
              <a:spcAft>
                <a:spcPts val="600"/>
              </a:spcAft>
            </a:pP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配合上述檢測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作業因應</a:t>
            </a:r>
            <a:r>
              <a:rPr lang="zh-TW" altLang="en-US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措施</a:t>
            </a:r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sz="32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1958096"/>
            <a:ext cx="8280920" cy="4085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indent="-630238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TW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新細明體" panose="02020500000000000000" pitchFamily="18" charset="-120"/>
                <a:cs typeface="Tahoma" panose="020B0604030504040204" pitchFamily="34" charset="0"/>
              </a:rPr>
              <a:t>(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一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en-US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2</a:t>
            </a:r>
            <a:r>
              <a:rPr lang="zh-TW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20</a:t>
            </a:r>
            <a:r>
              <a:rPr lang="zh-TW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日</a:t>
            </a:r>
            <a:r>
              <a:rPr lang="en-US" altLang="zh-TW" sz="2800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: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召開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資訊業務工作小組會議，請各單位配合於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3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月底完成相關事項之檢視及改善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。</a:t>
            </a:r>
            <a:endParaRPr lang="en-US" altLang="zh-TW" sz="2800" kern="0" dirty="0" smtClean="0">
              <a:solidFill>
                <a:srgbClr val="00206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ahoma" panose="020B0604030504040204" pitchFamily="34" charset="0"/>
            </a:endParaRPr>
          </a:p>
          <a:p>
            <a:pPr marL="630238" indent="-630238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TW" sz="2800" kern="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(</a:t>
            </a:r>
            <a:r>
              <a:rPr lang="zh-TW" altLang="en-US" sz="2800" kern="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二</a:t>
            </a:r>
            <a:r>
              <a:rPr lang="en-US" altLang="zh-TW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6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23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、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26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日</a:t>
            </a:r>
            <a:r>
              <a:rPr lang="en-US" altLang="zh-TW" sz="2800" kern="0" dirty="0" smtClean="0">
                <a:solidFill>
                  <a:srgbClr val="A828A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:</a:t>
            </a:r>
            <a:r>
              <a:rPr lang="zh-TW" altLang="en-US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辦理「</a:t>
            </a:r>
            <a:r>
              <a:rPr lang="zh-TW" altLang="en-US" sz="2800" kern="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資料集品質提升作法與說明」教育</a:t>
            </a:r>
            <a:r>
              <a:rPr lang="zh-TW" altLang="en-US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訓練。</a:t>
            </a:r>
            <a:endParaRPr lang="zh-TW" altLang="zh-TW" sz="2800" kern="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  <a:cs typeface="Tahoma" panose="020B0604030504040204" pitchFamily="34" charset="0"/>
            </a:endParaRPr>
          </a:p>
          <a:p>
            <a:pPr marL="630238" indent="-630238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TW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新細明體" panose="02020500000000000000" pitchFamily="18" charset="-120"/>
                <a:cs typeface="Tahoma" panose="020B0604030504040204" pitchFamily="34" charset="0"/>
              </a:rPr>
              <a:t>(</a:t>
            </a:r>
            <a:r>
              <a:rPr lang="zh-TW" altLang="en-US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三</a:t>
            </a:r>
            <a:r>
              <a:rPr lang="en-US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6</a:t>
            </a:r>
            <a:r>
              <a:rPr lang="zh-TW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u="sng" kern="0" dirty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30</a:t>
            </a:r>
            <a:r>
              <a:rPr lang="zh-TW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日</a:t>
            </a:r>
            <a:r>
              <a:rPr lang="en-US" altLang="zh-TW" sz="2800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: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初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測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結果待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修正項目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，送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請各單位儘速修正。</a:t>
            </a:r>
            <a:endParaRPr lang="zh-TW" altLang="zh-TW" sz="2800" kern="100" dirty="0">
              <a:solidFill>
                <a:srgbClr val="00206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630238" indent="-630238">
              <a:lnSpc>
                <a:spcPts val="25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TW" sz="2800" kern="0" dirty="0" smtClean="0">
                <a:solidFill>
                  <a:srgbClr val="002060"/>
                </a:solidFill>
                <a:latin typeface="標楷體" panose="03000509000000000000" pitchFamily="65" charset="-120"/>
                <a:ea typeface="新細明體" panose="02020500000000000000" pitchFamily="18" charset="-120"/>
                <a:cs typeface="Tahoma" panose="020B0604030504040204" pitchFamily="34" charset="0"/>
              </a:rPr>
              <a:t>(</a:t>
            </a:r>
            <a:r>
              <a:rPr lang="zh-TW" altLang="en-US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四</a:t>
            </a:r>
            <a:r>
              <a:rPr lang="en-US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8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3</a:t>
            </a:r>
            <a:r>
              <a:rPr lang="zh-TW" altLang="en-US" sz="2800" u="sng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日</a:t>
            </a:r>
            <a:r>
              <a:rPr lang="en-US" altLang="zh-TW" sz="2800" kern="0" dirty="0" smtClean="0">
                <a:solidFill>
                  <a:srgbClr val="A828A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: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召開資訊業務工作小組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會議</a:t>
            </a:r>
            <a:r>
              <a:rPr lang="zh-TW" altLang="en-US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，就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複測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尚未符合項目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，請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各單位於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8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月底</a:t>
            </a:r>
            <a:r>
              <a:rPr lang="zh-TW" altLang="zh-TW" sz="28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前修正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完畢、於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月底前就本次未列入檢測範圍之項目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(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自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104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2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日起至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106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年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5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月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31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日止期間以外發布之資料集</a:t>
            </a:r>
            <a:r>
              <a:rPr lang="en-US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zh-TW" altLang="zh-TW" sz="2800" kern="0" dirty="0">
                <a:solidFill>
                  <a:srgbClr val="00206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ahoma" panose="020B0604030504040204" pitchFamily="34" charset="0"/>
              </a:rPr>
              <a:t>，自行進行檢測及完成修正。</a:t>
            </a:r>
            <a:endParaRPr lang="zh-TW" altLang="zh-TW" sz="2800" kern="1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928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004" y="57918"/>
            <a:ext cx="9036673" cy="1143000"/>
          </a:xfrm>
        </p:spPr>
        <p:txBody>
          <a:bodyPr/>
          <a:lstStyle/>
          <a:p>
            <a:pPr marL="984250" indent="-984250" algn="l"/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年第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次政府資料品質檢測</a:t>
            </a:r>
            <a:r>
              <a:rPr lang="zh-TW" altLang="en-US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結果</a:t>
            </a:r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(3/4)</a:t>
            </a:r>
            <a:endParaRPr lang="zh-TW" altLang="en-US" sz="3800" dirty="0"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33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228185" y="807952"/>
            <a:ext cx="282203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詳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議程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P.22/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7)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582005"/>
              </p:ext>
            </p:extLst>
          </p:nvPr>
        </p:nvGraphicFramePr>
        <p:xfrm>
          <a:off x="971598" y="1963852"/>
          <a:ext cx="7200803" cy="3470744"/>
        </p:xfrm>
        <a:graphic>
          <a:graphicData uri="http://schemas.openxmlformats.org/drawingml/2006/table">
            <a:tbl>
              <a:tblPr firstRow="1" firstCol="1" bandRow="1"/>
              <a:tblGrid>
                <a:gridCol w="1368154"/>
                <a:gridCol w="1440160"/>
                <a:gridCol w="1464163"/>
                <a:gridCol w="1464163"/>
                <a:gridCol w="1464163"/>
              </a:tblGrid>
              <a:tr h="21852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截至目前</a:t>
                      </a:r>
                      <a:r>
                        <a:rPr 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已開放</a:t>
                      </a:r>
                      <a:r>
                        <a:rPr lang="zh-TW" altLang="en-US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項</a:t>
                      </a:r>
                      <a:r>
                        <a:rPr 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數</a:t>
                      </a:r>
                      <a:r>
                        <a:rPr lang="en-US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/>
                      </a:r>
                      <a:br>
                        <a:rPr lang="en-US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</a:br>
                      <a:r>
                        <a:rPr lang="en-US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(</a:t>
                      </a: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8/31</a:t>
                      </a:r>
                      <a:r>
                        <a:rPr lang="zh-TW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止</a:t>
                      </a: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)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初</a:t>
                      </a:r>
                      <a:r>
                        <a:rPr 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測</a:t>
                      </a:r>
                      <a:endParaRPr lang="en-US" altLang="zh-TW" sz="2800" kern="0" dirty="0" smtClean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/>
                      </a:r>
                      <a:br>
                        <a:rPr lang="en-US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</a:br>
                      <a:r>
                        <a:rPr lang="zh-TW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資料集數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8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初</a:t>
                      </a:r>
                      <a:r>
                        <a:rPr lang="zh-TW" sz="2800" kern="0" dirty="0" smtClea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測</a:t>
                      </a:r>
                      <a:endParaRPr lang="en-US" altLang="zh-TW" sz="2800" kern="0" dirty="0" smtClean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800" kern="0" dirty="0" smtClea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不符合</a:t>
                      </a:r>
                      <a:endParaRPr lang="en-US" altLang="zh-TW" sz="2800" kern="0" dirty="0" smtClean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800" kern="0" dirty="0" smtClea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資料</a:t>
                      </a:r>
                      <a:r>
                        <a:rPr lang="zh-TW" sz="28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集</a:t>
                      </a:r>
                      <a:r>
                        <a:rPr lang="zh-TW" sz="280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數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未檢測</a:t>
                      </a:r>
                      <a:endParaRPr lang="en-US" altLang="zh-TW" sz="2800" kern="0" dirty="0" smtClean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新細明體" panose="02020500000000000000" pitchFamily="18" charset="-12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/>
                      </a:r>
                      <a:br>
                        <a:rPr lang="en-US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</a:br>
                      <a:r>
                        <a:rPr lang="zh-TW" altLang="zh-TW" sz="2800" kern="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資料集數</a:t>
                      </a:r>
                      <a:endParaRPr lang="zh-TW" alt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55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8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新細明體" panose="02020500000000000000" pitchFamily="18" charset="-120"/>
                        </a:rPr>
                        <a:t>小計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412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317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78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800" b="1" kern="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95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899592" y="1304508"/>
            <a:ext cx="2448272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檢測結果</a:t>
            </a:r>
            <a:endParaRPr lang="zh-TW" altLang="en-US" sz="32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943574" y="5589240"/>
            <a:ext cx="7148328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24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sz="24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初測不符合之</a:t>
            </a:r>
            <a:r>
              <a:rPr lang="en-US" altLang="zh-TW" sz="24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78</a:t>
            </a:r>
            <a:r>
              <a:rPr lang="zh-TW" altLang="en-US" sz="2400" kern="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項，皆已修正完竣。</a:t>
            </a:r>
            <a:endParaRPr lang="zh-TW" altLang="en-US" sz="2400" kern="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687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34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3528" y="1340768"/>
            <a:ext cx="2544367" cy="70788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擬辦</a:t>
            </a:r>
            <a:r>
              <a:rPr lang="en-US" altLang="zh-TW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971600" y="2246422"/>
            <a:ext cx="7632848" cy="3486834"/>
          </a:xfrm>
        </p:spPr>
        <p:txBody>
          <a:bodyPr/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未列入第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次檢測範圍之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95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項資料集，請各單位於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月底前完成檢測及修正。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zh-TW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請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各</a:t>
            </a:r>
            <a:r>
              <a:rPr lang="zh-TW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單位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配合第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次檢測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作業，持續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精進資料品質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82004" y="57918"/>
            <a:ext cx="9036673" cy="1143000"/>
          </a:xfrm>
        </p:spPr>
        <p:txBody>
          <a:bodyPr/>
          <a:lstStyle/>
          <a:p>
            <a:pPr marL="984250" indent="-984250" algn="l"/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年第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次政府資料品質檢測</a:t>
            </a:r>
            <a:r>
              <a:rPr lang="zh-TW" altLang="en-US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結果</a:t>
            </a:r>
            <a:r>
              <a:rPr lang="en-US" altLang="zh-TW" sz="3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(4/4)</a:t>
            </a:r>
            <a:endParaRPr lang="zh-TW" altLang="en-US" sz="3800" dirty="0"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92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35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771800" y="1268760"/>
            <a:ext cx="489654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>
                <a:latin typeface="標楷體" pitchFamily="65" charset="-120"/>
                <a:ea typeface="標楷體" pitchFamily="65" charset="-120"/>
              </a:rPr>
              <a:t>伍</a:t>
            </a:r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、討論事項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115616" y="2276872"/>
            <a:ext cx="6840760" cy="331236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896938" indent="-896938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u="sng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u="sng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</a:t>
            </a: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endParaRPr lang="en-US" altLang="zh-TW" sz="3600" u="sng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93763" indent="-893763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二、本次資料</a:t>
            </a:r>
            <a:r>
              <a:rPr lang="zh-TW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盤點結果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擬新增開放項目</a:t>
            </a:r>
            <a:endParaRPr lang="en-US" altLang="zh-TW" sz="3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3600" u="sng" kern="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3600" u="sng" kern="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984250" indent="-9842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TW" altLang="en-US" sz="3600" u="sng" kern="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369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6872" y="9030"/>
            <a:ext cx="9133656" cy="1268760"/>
          </a:xfrm>
        </p:spPr>
        <p:txBody>
          <a:bodyPr/>
          <a:lstStyle/>
          <a:p>
            <a:pPr marL="985838" indent="-985838" algn="r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(1/1)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36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499048" y="1204767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（詳議程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P.23/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討論事項一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600" y="2060848"/>
            <a:ext cx="7488832" cy="386362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敍獎</a:t>
            </a:r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endParaRPr lang="zh-TW" altLang="en-US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431925" indent="-1431925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分組：依業務性質分為業務單位、行政單位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秘書室、人事室、政風室、主計室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組。</a:t>
            </a:r>
          </a:p>
          <a:p>
            <a:pPr marL="1431925" indent="-1431925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額度：業務單位取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名，行政單位取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名。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TW" altLang="en-US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2339752" y="4941168"/>
            <a:ext cx="5832648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en-US" altLang="zh-TW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業務單位共</a:t>
            </a:r>
            <a:r>
              <a:rPr lang="en-US" altLang="zh-TW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個、行政單位共</a:t>
            </a:r>
            <a:r>
              <a:rPr lang="en-US" altLang="zh-TW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sz="2800" b="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b="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170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6872" y="9030"/>
            <a:ext cx="9133656" cy="1268760"/>
          </a:xfrm>
        </p:spPr>
        <p:txBody>
          <a:bodyPr/>
          <a:lstStyle/>
          <a:p>
            <a:pPr marL="985838" indent="-985838" algn="r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(2/4)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37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10088" y="1196752"/>
            <a:ext cx="1449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（詳附件</a:t>
            </a:r>
            <a:r>
              <a:rPr lang="en-US" altLang="zh-TW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2)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10806" b="830"/>
          <a:stretch/>
        </p:blipFill>
        <p:spPr>
          <a:xfrm>
            <a:off x="157334" y="1596862"/>
            <a:ext cx="8892882" cy="4912280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307380" y="1134850"/>
            <a:ext cx="6984776" cy="56595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2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本會資料開放績效考核表</a:t>
            </a:r>
            <a:r>
              <a:rPr lang="en-US" altLang="zh-TW" sz="24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z="24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831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38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8693" y="1813244"/>
            <a:ext cx="7948365" cy="4390670"/>
          </a:xfrm>
        </p:spPr>
        <p:txBody>
          <a:bodyPr/>
          <a:lstStyle/>
          <a:p>
            <a:r>
              <a:rPr lang="en-US" altLang="zh-TW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評分原則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93763" indent="-355600">
              <a:spcBef>
                <a:spcPts val="1200"/>
              </a:spcBef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各分組依總分個別排序，分數相同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者再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就個別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項目依序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考核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項次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之順序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評比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至分出差異為止。</a:t>
            </a:r>
          </a:p>
          <a:p>
            <a:pPr marL="893763" indent="-355600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考核項次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「公私跨域合作應用推廣」一項，以新增應用案例為範圍，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105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年度已提報者不列入計算，應用案例成果若屬跨單位合作者，參與單位均可列入本項次計分。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-16872" y="9030"/>
            <a:ext cx="9133656" cy="126876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985838" indent="-985838" algn="r"/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年資料開放績效考核敍獎及評分原則</a:t>
            </a:r>
            <a:r>
              <a:rPr lang="en-US" altLang="zh-TW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(3/4)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754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4382-7C4E-4E7B-8DB7-FB39E0211E21}" type="slidenum">
              <a:rPr lang="zh-TW" altLang="en-US" smtClean="0">
                <a:solidFill>
                  <a:prstClr val="black"/>
                </a:solidFill>
              </a:rPr>
              <a:pPr/>
              <a:t>39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3" y="2276872"/>
            <a:ext cx="7560840" cy="236464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本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次會議決議通過後，據以辦理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年資料開放績效考核作業。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23528" y="1340768"/>
            <a:ext cx="2544367" cy="70788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擬辦</a:t>
            </a:r>
            <a:r>
              <a:rPr lang="en-US" altLang="zh-TW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-16872" y="9030"/>
            <a:ext cx="9133656" cy="1268760"/>
          </a:xfrm>
        </p:spPr>
        <p:txBody>
          <a:bodyPr/>
          <a:lstStyle/>
          <a:p>
            <a:pPr marL="985838" indent="-985838" algn="r"/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原則</a:t>
            </a:r>
            <a:r>
              <a:rPr lang="en-US" altLang="zh-TW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(4/4)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288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40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771800" y="1268760"/>
            <a:ext cx="4896544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>
                <a:latin typeface="標楷體" pitchFamily="65" charset="-120"/>
                <a:ea typeface="標楷體" pitchFamily="65" charset="-120"/>
              </a:rPr>
              <a:t>伍</a:t>
            </a:r>
            <a:r>
              <a:rPr lang="zh-TW" altLang="en-US" kern="0" dirty="0" smtClean="0">
                <a:latin typeface="標楷體" pitchFamily="65" charset="-120"/>
                <a:ea typeface="標楷體" pitchFamily="65" charset="-120"/>
              </a:rPr>
              <a:t>、討論事項</a:t>
            </a:r>
            <a:endParaRPr lang="zh-TW" altLang="en-US" kern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115616" y="2276872"/>
            <a:ext cx="6840760" cy="36004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marL="893763" indent="-893763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一、</a:t>
            </a:r>
            <a: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年資料開放績效考核敍獎及評分原則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893763" indent="-893763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二、本次資料</a:t>
            </a:r>
            <a:r>
              <a:rPr lang="zh-TW" altLang="zh-TW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盤點結果</a:t>
            </a:r>
            <a:r>
              <a:rPr lang="zh-TW" altLang="en-US" sz="3600" u="sng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擬新增開放項目</a:t>
            </a:r>
            <a:endParaRPr lang="en-US" altLang="zh-TW" sz="3600" u="sng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3600" u="sng" kern="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TW" sz="3600" u="sng" kern="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984250" indent="-9842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zh-TW" altLang="en-US" sz="3600" u="sng" kern="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421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5616" y="2492896"/>
            <a:ext cx="7776864" cy="359596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全球經濟論壇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GES)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相關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(2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兩岸經貿</a:t>
            </a:r>
            <a:r>
              <a:rPr lang="zh-TW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交流相關統計</a:t>
            </a: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指標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(11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人口</a:t>
            </a:r>
            <a:r>
              <a:rPr lang="zh-TW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及人力相關議題研究</a:t>
            </a: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公共</a:t>
            </a:r>
            <a:r>
              <a:rPr lang="zh-TW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政策網路參與平台各單元</a:t>
            </a: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資訊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機關</a:t>
            </a:r>
            <a:r>
              <a:rPr lang="zh-TW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檔案目錄查詢網檔案</a:t>
            </a:r>
            <a:r>
              <a:rPr lang="zh-TW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其他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(47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41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33391" y="277465"/>
            <a:ext cx="9110609" cy="81282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、本次資料盤點結果擬新增開放項目</a:t>
            </a:r>
          </a:p>
          <a:p>
            <a:pPr algn="l"/>
            <a: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899591" y="1484784"/>
            <a:ext cx="7444309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擬開放項目</a:t>
            </a: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計</a:t>
            </a:r>
            <a:r>
              <a:rPr lang="en-US" altLang="zh-TW" sz="3600" kern="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75</a:t>
            </a:r>
            <a:r>
              <a:rPr lang="zh-TW" altLang="en-US" sz="3600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</a:t>
            </a:r>
            <a:r>
              <a:rPr lang="zh-TW" altLang="en-US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，開放重點如下</a:t>
            </a:r>
            <a:r>
              <a:rPr lang="en-US" altLang="zh-TW" sz="3600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660254" y="1023119"/>
            <a:ext cx="2036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sz="2000" dirty="0"/>
              <a:t>（詳附件</a:t>
            </a:r>
            <a:r>
              <a:rPr lang="en-US" altLang="zh-TW" sz="2000" dirty="0"/>
              <a:t>3</a:t>
            </a:r>
            <a:r>
              <a:rPr lang="zh-TW" altLang="en-US" sz="2000" dirty="0"/>
              <a:t>、</a:t>
            </a:r>
            <a:r>
              <a:rPr lang="en-US" altLang="zh-TW" sz="2000" dirty="0"/>
              <a:t>4)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21713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42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75074" y="2132856"/>
            <a:ext cx="74443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zh-TW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盤點結果擬於本次會議決議通過後，請各單位據以辦理後續登錄上架等開放作業相關事宜</a:t>
            </a:r>
            <a:r>
              <a:rPr lang="zh-TW" altLang="zh-TW" sz="3200" dirty="0" smtClean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。</a:t>
            </a:r>
            <a:endParaRPr lang="en-US" altLang="zh-TW" sz="3200" dirty="0" smtClean="0">
              <a:solidFill>
                <a:schemeClr val="accent6">
                  <a:lumMod val="50000"/>
                </a:schemeClr>
              </a:solidFill>
              <a:ea typeface="標楷體" panose="03000509000000000000" pitchFamily="65" charset="-120"/>
              <a:cs typeface="Tahom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年度結束前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，倘有擬新增開放項目，未能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及時提報本小組審議確認者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，請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各單位提報本會資訊業務推動小組</a:t>
            </a:r>
            <a:r>
              <a:rPr lang="en-US" altLang="zh-TW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(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或工作小組</a:t>
            </a:r>
            <a:r>
              <a:rPr lang="en-US" altLang="zh-TW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r>
              <a:rPr lang="zh-TW" altLang="en-US" sz="3200" dirty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討論通過後上架</a:t>
            </a:r>
            <a:r>
              <a:rPr lang="zh-TW" altLang="en-US" sz="3200" dirty="0" smtClean="0">
                <a:solidFill>
                  <a:schemeClr val="accent6">
                    <a:lumMod val="50000"/>
                  </a:schemeClr>
                </a:solidFill>
                <a:ea typeface="標楷體" panose="03000509000000000000" pitchFamily="65" charset="-120"/>
                <a:cs typeface="Tahoma" panose="020B0604030504040204" pitchFamily="34" charset="0"/>
              </a:rPr>
              <a:t>。</a:t>
            </a:r>
            <a:endParaRPr lang="zh-TW" alt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23528" y="1340768"/>
            <a:ext cx="2544367" cy="70788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擬辦</a:t>
            </a:r>
            <a:r>
              <a:rPr lang="en-US" altLang="zh-TW" sz="4000" b="1" dirty="0" smtClean="0">
                <a:solidFill>
                  <a:srgbClr val="8D06D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zh-TW" altLang="en-US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33391" y="277465"/>
            <a:ext cx="9110609" cy="81282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新細明體" charset="-120"/>
                <a:ea typeface="華康龍門石碑" pitchFamily="65" charset="-120"/>
              </a:defRPr>
            </a:lvl9pPr>
          </a:lstStyle>
          <a:p>
            <a:pPr algn="l"/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、本次資料盤點結果擬新增開放項目</a:t>
            </a:r>
          </a:p>
          <a:p>
            <a:pPr algn="l"/>
            <a: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3600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947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53AB2-F19A-4BD0-B915-C2175D5F5FF6}" type="slidenum">
              <a:rPr lang="en-US" altLang="zh-TW" smtClean="0">
                <a:solidFill>
                  <a:srgbClr val="000000"/>
                </a:solidFill>
              </a:rPr>
              <a:pPr/>
              <a:t>43</a:t>
            </a:fld>
            <a:endParaRPr lang="en-US" altLang="zh-TW" dirty="0">
              <a:solidFill>
                <a:srgbClr val="00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215386" y="3242990"/>
            <a:ext cx="8820472" cy="3240360"/>
            <a:chOff x="1115616" y="908720"/>
            <a:chExt cx="6096000" cy="3096344"/>
          </a:xfrm>
        </p:grpSpPr>
        <p:pic>
          <p:nvPicPr>
            <p:cNvPr id="2050" name="Picture 2" descr="edm_r3_c1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05"/>
            <a:stretch/>
          </p:blipFill>
          <p:spPr bwMode="auto">
            <a:xfrm>
              <a:off x="1115616" y="908720"/>
              <a:ext cx="6096000" cy="1459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" name="Picture 3" descr="edm_r4_c1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911"/>
            <a:stretch/>
          </p:blipFill>
          <p:spPr bwMode="auto">
            <a:xfrm>
              <a:off x="1115616" y="2367831"/>
              <a:ext cx="6096000" cy="1637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971600" y="1107229"/>
            <a:ext cx="7056784" cy="192270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kumimoji="0" lang="zh-TW" altLang="en-US" sz="5400" b="1" dirty="0">
                <a:solidFill>
                  <a:srgbClr val="002060"/>
                </a:solidFill>
                <a:latin typeface="標楷體" panose="03000509000000000000" pitchFamily="65" charset="-120"/>
              </a:rPr>
              <a:t>簡報完</a:t>
            </a:r>
            <a:r>
              <a:rPr lang="zh-TW" altLang="en-US" sz="5400" b="1" dirty="0">
                <a:solidFill>
                  <a:srgbClr val="002060"/>
                </a:solidFill>
                <a:latin typeface="標楷體" panose="03000509000000000000" pitchFamily="65" charset="-120"/>
              </a:rPr>
              <a:t>畢</a:t>
            </a:r>
          </a:p>
          <a:p>
            <a:pPr algn="ctr" eaLnBrk="1" hangingPunct="1">
              <a:buFontTx/>
              <a:buNone/>
            </a:pPr>
            <a:r>
              <a:rPr lang="zh-TW" altLang="en-US" sz="5400" b="1" dirty="0">
                <a:solidFill>
                  <a:srgbClr val="002060"/>
                </a:solidFill>
                <a:latin typeface="標楷體" panose="03000509000000000000" pitchFamily="65" charset="-120"/>
              </a:rPr>
              <a:t>敬請指教</a:t>
            </a:r>
          </a:p>
        </p:txBody>
      </p:sp>
    </p:spTree>
    <p:extLst>
      <p:ext uri="{BB962C8B-B14F-4D97-AF65-F5344CB8AC3E}">
        <p14:creationId xmlns:p14="http://schemas.microsoft.com/office/powerpoint/2010/main" val="304572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空白簡報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白簡報">
      <a:majorFont>
        <a:latin typeface="新細明體"/>
        <a:ea typeface="華康龍門石碑"/>
        <a:cs typeface=""/>
      </a:majorFont>
      <a:minorFont>
        <a:latin typeface="新細明體"/>
        <a:ea typeface="華康龍門石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0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標楷體" pitchFamily="65" charset="-12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0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標楷體" pitchFamily="65" charset="-120"/>
            <a:ea typeface="標楷體" pitchFamily="65" charset="-120"/>
          </a:defRPr>
        </a:defPPr>
      </a:lstStyle>
    </a:lnDef>
    <a:txDef>
      <a:spPr>
        <a:noFill/>
      </a:spPr>
      <a:bodyPr vert="eaVert" wrap="square" rtlCol="0">
        <a:spAutoFit/>
      </a:bodyPr>
      <a:lstStyle>
        <a:defPPr>
          <a:defRPr sz="2400" dirty="0" smtClean="0"/>
        </a:defPPr>
      </a:lstStyle>
    </a:txDef>
  </a:objectDefaults>
  <a:extraClrSchemeLst>
    <a:extraClrScheme>
      <a:clrScheme name="空白簡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白簡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空白簡報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白簡報">
      <a:majorFont>
        <a:latin typeface="新細明體"/>
        <a:ea typeface="華康龍門石碑"/>
        <a:cs typeface=""/>
      </a:majorFont>
      <a:minorFont>
        <a:latin typeface="新細明體"/>
        <a:ea typeface="華康龍門石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0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標楷體" pitchFamily="65" charset="-12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0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標楷體" pitchFamily="65" charset="-120"/>
            <a:ea typeface="標楷體" pitchFamily="65" charset="-120"/>
          </a:defRPr>
        </a:defPPr>
      </a:lstStyle>
    </a:lnDef>
  </a:objectDefaults>
  <a:extraClrSchemeLst>
    <a:extraClrScheme>
      <a:clrScheme name="空白簡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白簡報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白簡報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19337</TotalTime>
  <Words>3599</Words>
  <Application>Microsoft Office PowerPoint</Application>
  <PresentationFormat>如螢幕大小 (4:3)</PresentationFormat>
  <Paragraphs>521</Paragraphs>
  <Slides>43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43</vt:i4>
      </vt:variant>
    </vt:vector>
  </HeadingPairs>
  <TitlesOfParts>
    <vt:vector size="56" baseType="lpstr">
      <vt:lpstr>宋體</vt:lpstr>
      <vt:lpstr>華康龍門石碑</vt:lpstr>
      <vt:lpstr>微軟正黑體</vt:lpstr>
      <vt:lpstr>新細明體</vt:lpstr>
      <vt:lpstr>標楷體</vt:lpstr>
      <vt:lpstr>Arial</vt:lpstr>
      <vt:lpstr>Calibri</vt:lpstr>
      <vt:lpstr>Tahoma</vt:lpstr>
      <vt:lpstr>Times</vt:lpstr>
      <vt:lpstr>Times New Roman</vt:lpstr>
      <vt:lpstr>Wingdings</vt:lpstr>
      <vt:lpstr>空白簡報</vt:lpstr>
      <vt:lpstr>1_空白簡報</vt:lpstr>
      <vt:lpstr>PowerPoint 簡報</vt:lpstr>
      <vt:lpstr>議  程</vt:lpstr>
      <vt:lpstr>PowerPoint 簡報</vt:lpstr>
      <vt:lpstr>PowerPoint 簡報</vt:lpstr>
      <vt:lpstr>PowerPoint 簡報</vt:lpstr>
      <vt:lpstr>PowerPoint 簡報</vt:lpstr>
      <vt:lpstr>PowerPoint 簡報</vt:lpstr>
      <vt:lpstr>委員名單、會議紀錄等資料公開至政府資料開放平臺</vt:lpstr>
      <vt:lpstr>二、本會諮詢小組運作方式(4/4)</vt:lpstr>
      <vt:lpstr>PowerPoint 簡報</vt:lpstr>
      <vt:lpstr>PowerPoint 簡報</vt:lpstr>
      <vt:lpstr>PowerPoint 簡報</vt:lpstr>
      <vt:lpstr>PowerPoint 簡報</vt:lpstr>
      <vt:lpstr>PowerPoint 簡報</vt:lpstr>
      <vt:lpstr>一、本會於政府資料開放平臺開放情形(1/10)</vt:lpstr>
      <vt:lpstr>一、本會於政府資料開放平臺開放情形(2/10)</vt:lpstr>
      <vt:lpstr>一、本會於政府資料開放平臺開放情形(3/10)</vt:lpstr>
      <vt:lpstr>一、本會於政府資料開放平臺開放情形(4/10)</vt:lpstr>
      <vt:lpstr>一、本會於政府資料開放平臺開放情形(5/10)</vt:lpstr>
      <vt:lpstr>一、本會於政府資料開放平臺開放情形(6/10)</vt:lpstr>
      <vt:lpstr>一、本會於政府資料開放平臺開放情形(7/10)</vt:lpstr>
      <vt:lpstr>一、本會於政府資料開放平臺開放情形(8/10)</vt:lpstr>
      <vt:lpstr>一、本會於政府資料開放平臺開放情形(9/10)</vt:lpstr>
      <vt:lpstr>一、本會於政府資料開放平臺開放情形(10/10)</vt:lpstr>
      <vt:lpstr>PowerPoint 簡報</vt:lpstr>
      <vt:lpstr>PowerPoint 簡報</vt:lpstr>
      <vt:lpstr>二、前次會議至今執行成果(2/2)</vt:lpstr>
      <vt:lpstr>PowerPoint 簡報</vt:lpstr>
      <vt:lpstr>三、本會目前資料開放情形總覽</vt:lpstr>
      <vt:lpstr>PowerPoint 簡報</vt:lpstr>
      <vt:lpstr>106年第1次政府資料品質檢測結果(1/4)</vt:lpstr>
      <vt:lpstr>106年第1次政府資料品質檢測結果(2/4)</vt:lpstr>
      <vt:lpstr>106年第1次政府資料品質檢測結果(3/4)</vt:lpstr>
      <vt:lpstr>106年第1次政府資料品質檢測結果(4/4)</vt:lpstr>
      <vt:lpstr>PowerPoint 簡報</vt:lpstr>
      <vt:lpstr>一、106年資料開放績效考核敍獎及評分原則(1/1)</vt:lpstr>
      <vt:lpstr>一、106年資料開放績效考核敍獎及評分原則(2/4)</vt:lpstr>
      <vt:lpstr>PowerPoint 簡報</vt:lpstr>
      <vt:lpstr>一、106年資料開放績效考核敍獎及評分原則(4/4)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</dc:creator>
  <cp:lastModifiedBy>詹秀峰</cp:lastModifiedBy>
  <cp:revision>1427</cp:revision>
  <cp:lastPrinted>2017-09-21T05:43:52Z</cp:lastPrinted>
  <dcterms:created xsi:type="dcterms:W3CDTF">2015-02-15T02:13:29Z</dcterms:created>
  <dcterms:modified xsi:type="dcterms:W3CDTF">2017-09-27T12:56:05Z</dcterms:modified>
</cp:coreProperties>
</file>